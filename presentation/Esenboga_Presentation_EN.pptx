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1673e70-fed5-3534-ca95-1b957f41cb3f}">
          <p14:sldIdLst>
            <p14:sldId id="256"/>
            <p14:sldId id="257"/>
            <p14:sldId id="258"/>
          </p14:sldIdLst>
        </p14:section>
        <p14:section name="Data and method" id="{4457916e-d5b3-57a6-cf01-4846ac0b024e}">
          <p14:sldIdLst>
            <p14:sldId id="259"/>
            <p14:sldId id="260"/>
            <p14:sldId id="261"/>
            <p14:sldId id="262"/>
          </p14:sldIdLst>
        </p14:section>
        <p14:section name="Results" id="{c42be620-b811-e4f7-d093-05eaa68eaaef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Application and conclusion" id="{1d1f0d3b-54ae-1312-402e-b6994f85a122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3233A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13233A"/>
                </a:solidFill>
                <a:latin typeface="+mj-lt"/>
              </a:rPr>
              <a:t>Critical success index (CSI), test 2022–2026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ML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h</c:v>
                  </c:pt>
                  <c:pt idx="1">
                    <c:v>3 h</c:v>
                  </c:pt>
                  <c:pt idx="2">
                    <c:v>6 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0.729</c:v>
                </c:pt>
                <c:pt idx="1">
                  <c:v>0.472</c:v>
                </c:pt>
                <c:pt idx="2">
                  <c:v>0.34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Persistence</c:v>
                </c:pt>
              </c:strCache>
            </c:strRef>
          </c:tx>
          <c:spPr>
            <a:solidFill>
              <a:srgbClr val="13233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h</c:v>
                  </c:pt>
                  <c:pt idx="1">
                    <c:v>3 h</c:v>
                  </c:pt>
                  <c:pt idx="2">
                    <c:v>6 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0.652</c:v>
                </c:pt>
                <c:pt idx="1">
                  <c:v>0.321</c:v>
                </c:pt>
                <c:pt idx="2">
                  <c:v>0.129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3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E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1E7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F8C9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3233A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13233A"/>
                </a:solidFill>
                <a:latin typeface="+mj-lt"/>
              </a:rPr>
              <a:t>CSI versus lead time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LightGBM</c:v>
                </c:pt>
              </c:strCache>
            </c:strRef>
          </c:tx>
          <c:spPr>
            <a:solidFill>
              <a:srgbClr val="1F77B4"/>
            </a:solidFill>
            <a:ln w="38100" cap="flat">
              <a:solidFill>
                <a:srgbClr val="1F77B4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33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 h</c:v>
                  </c:pt>
                  <c:pt idx="1">
                    <c:v>2 h</c:v>
                  </c:pt>
                  <c:pt idx="2">
                    <c:v>3 h</c:v>
                  </c:pt>
                  <c:pt idx="3">
                    <c:v>4 h</c:v>
                  </c:pt>
                  <c:pt idx="4">
                    <c:v>5 h</c:v>
                  </c:pt>
                  <c:pt idx="5">
                    <c:v>6 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0.729</c:v>
                </c:pt>
                <c:pt idx="1">
                  <c:v>0.544</c:v>
                </c:pt>
                <c:pt idx="2">
                  <c:v>0.467</c:v>
                </c:pt>
                <c:pt idx="3">
                  <c:v>0.384</c:v>
                </c:pt>
                <c:pt idx="4">
                  <c:v>0.346</c:v>
                </c:pt>
                <c:pt idx="5">
                  <c:v>0.297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Persistence</c:v>
                </c:pt>
              </c:strCache>
            </c:strRef>
          </c:tx>
          <c:spPr>
            <a:solidFill>
              <a:srgbClr val="13233A"/>
            </a:solidFill>
            <a:ln w="38100" cap="flat">
              <a:solidFill>
                <a:srgbClr val="13233A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33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3233A"/>
              </a:solidFill>
              <a:ln w="9525" cap="flat">
                <a:solidFill>
                  <a:srgbClr val="1323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 h</c:v>
                  </c:pt>
                  <c:pt idx="1">
                    <c:v>2 h</c:v>
                  </c:pt>
                  <c:pt idx="2">
                    <c:v>3 h</c:v>
                  </c:pt>
                  <c:pt idx="3">
                    <c:v>4 h</c:v>
                  </c:pt>
                  <c:pt idx="4">
                    <c:v>5 h</c:v>
                  </c:pt>
                  <c:pt idx="5">
                    <c:v>6 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0.652</c:v>
                </c:pt>
                <c:pt idx="1">
                  <c:v>0.458</c:v>
                </c:pt>
                <c:pt idx="2">
                  <c:v>0.321</c:v>
                </c:pt>
                <c:pt idx="3">
                  <c:v>0.23</c:v>
                </c:pt>
                <c:pt idx="4">
                  <c:v>0.168</c:v>
                </c:pt>
                <c:pt idx="5">
                  <c:v>0.129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3233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E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1E7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F8C9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3233A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13233A"/>
                </a:solidFill>
                <a:latin typeface="+mj-lt"/>
              </a:rPr>
              <a:t>Fog onsets flagged in advance (%) — LightGBM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Warning (τ)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h</c:v>
                  </c:pt>
                  <c:pt idx="1">
                    <c:v>3 h</c:v>
                  </c:pt>
                  <c:pt idx="2">
                    <c:v>6 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</c:v>
                </c:pt>
                <c:pt idx="1">
                  <c:v>6.3</c:v>
                </c:pt>
                <c:pt idx="2">
                  <c:v>20.8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Watch (τ/2)</c:v>
                </c:pt>
              </c:strCache>
            </c:strRef>
          </c:tx>
          <c:spPr>
            <a:solidFill>
              <a:srgbClr val="F2C20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h</c:v>
                  </c:pt>
                  <c:pt idx="1">
                    <c:v>3 h</c:v>
                  </c:pt>
                  <c:pt idx="2">
                    <c:v>6 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</c:v>
                </c:pt>
                <c:pt idx="1">
                  <c:v>20.8</c:v>
                </c:pt>
                <c:pt idx="2">
                  <c:v>37.5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Persistence</c:v>
                </c:pt>
              </c:strCache>
            </c:strRef>
          </c:tx>
          <c:spPr>
            <a:solidFill>
              <a:srgbClr val="13233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h</c:v>
                  </c:pt>
                  <c:pt idx="1">
                    <c:v>3 h</c:v>
                  </c:pt>
                  <c:pt idx="2">
                    <c:v>6 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2.1</c:v>
                </c:pt>
                <c:pt idx="2">
                  <c:v>4.2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3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E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1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F8C9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Hello. In this project I built an early-warning system that nowcasts fog and low visibility at Ankara Esenboğa Airport 1, 3 and 6 hours ahead, explains its decisions and runs live. I will cover the problem, data and method, results and the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Fog is the main cause of delays and diversions. Our data set reproduces the published climatology: 94.6% of fog in Oct–Feb, 819.5 fog hours in 2011–2020 (≈800 h reported), and RVR ≤ 350 m in 55.5% of fog observations.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Esenboğa studies are climatological; no ML forecast exists. Internationally, matched comparisons with the official forecasts and physical explanations are rare. Our five contributions are listed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come from the IEM archive; synthetic ISD-derived records without RVR/TREND were removed and gaps filled from Ogimet. A purpose-built decoder parses visibility, RVR of every runway, weather, clouds and TREND groups; QC applies range and spike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archives, decoder and QC, 30-min grid with 77 features, models and calibration, verification. The web app reuses the same code, so offline and live forecasts are identical (proven by a parity test).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targets: visibility below 1000 m and ILS categories (550/350 m, as used for Esenboğa). The 77 predictors form five groups; valid-time solar terms are deterministic and known in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Chronological, season-aligned split; six model families; Optuna tuning on validation seasons; no resampling in the final models because SMOTE and class weights distort probabilities; calibration chosen by leave-one-season-out 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four independent test seasons the best CSI is 0.73/0.47/0.34 vs 0.65/0.32/0.13 for persistence (+12/45/130%). All six models are significantly better at every lead time (paired day-block bootstrap). Boosting wins at 1 h, recurrent nets at 3–6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TREND (the forecaster's official 2-h forecast) reaches CSI 0.62, persistence 0.65 and LightGBM 0.73 on identical cases: ΔCSI = 0.105 [0.075, 0.140]. Skill decays smoothly with lead time while the gap to persistence widens. In the 30-day TAF window no fog occurred and neither TAF nor the model raised a false alarm.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Persistence cannot predict onsets or dissipations. Dissipations are captured well (GRU 86% at 6 h); onsets are hard (6–21% at the max-CSI thresholds). The tiered alert design helps: the watch level (half the threshold) flags 25/21/38% of onsets 1/3/6 h ahead at a small CSI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ILS categories are forecast as an ordinal problem with two binary models (RVR &lt; 550 m, &lt; 350 m). RPSS reaches 0.64/0.41/0.28 at 1/3/6 h (persistence −0.70 at 6 h). CAT III is recognised in 76% of cases; CAT II, a narrow transitional band, is hardest.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shows the current state dominates at 1 h (78%), while at 6 h sun/calendar (28%) and boundary-layer memory (21%) rise. Dependence plots reproduce textbook physics: T−Td ≤ 2 °C raises the risk, winds &gt; 3 kt suppress fog, sunrise dissipates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two-stage episode: fog cleared in the afternoon and re-formed at 16:50 UTC. At 16:20, with visibility still 1200 m, the 3-h model warned with p = 0.82. The SHAP explanation shows the reasons: falling minimum visibility, RVR 650 m, T−Td 1 °C and RH 93%.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10 minutes the app fetches the latest METARs, runs the same pipeline and shows 1–6 h probabilities, the ILS outlook, an alert level and SHAP explanations. Every forecast is logged and verified automatically. Parity test: zero difference in 240 comparisons. July–October 2026 replay: no fog and not a single false alarm.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summary: the first ML fog nowcast for Esenboğa; all models beat persistence and the official TREND; the models are physically consistent and run live. Future work: NWP and satellite predictors, full-season TAF comparison, transfer to other airports. Thank you — questions are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60120" cy="420624"/>
          </a:xfrm>
          <a:prstGeom prst="rect">
            <a:avLst/>
          </a:prstGeom>
          <a:solidFill>
            <a:srgbClr val="000000"/>
          </a:solidFill>
          <a:ln w="19050">
            <a:solidFill>
              <a:srgbClr val="F2C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LTAC</a:t>
            </a:r>
            <a:endParaRPr lang="en-US" sz="18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1417320"/>
            <a:ext cx="630936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40080" y="4069080"/>
            <a:ext cx="63093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384048"/>
            <a:ext cx="960120" cy="420624"/>
          </a:xfrm>
          <a:prstGeom prst="rect">
            <a:avLst/>
          </a:prstGeom>
          <a:solidFill>
            <a:srgbClr val="000000"/>
          </a:solidFill>
          <a:ln w="19050">
            <a:solidFill>
              <a:srgbClr val="F2C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5276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LTAC</a:t>
            </a:r>
            <a:endParaRPr lang="en-US" sz="18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9A"/>
                </a:solidFill>
              </a:rPr>
              <a:t>YMH453 Machine Learning — Ankara University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384048"/>
            <a:ext cx="960120" cy="420624"/>
          </a:xfrm>
          <a:prstGeom prst="rect">
            <a:avLst/>
          </a:prstGeom>
          <a:solidFill>
            <a:srgbClr val="000000"/>
          </a:solidFill>
          <a:ln w="19050">
            <a:solidFill>
              <a:srgbClr val="F2C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5276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LTAC</a:t>
            </a:r>
            <a:endParaRPr lang="en-US" sz="18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taSakik/esenboga-fog-nowcasting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1417320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Machine-Learning Nowcasting of Fog and Low Visibility at Esenboğa</a:t>
            </a:r>
            <a:endParaRPr lang="en-US" sz="3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40080" y="4069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early-warning system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2578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BEF"/>
                </a:solidFill>
              </a:rPr>
              <a:t>Ata Sakik (25290085)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BEF"/>
                </a:solidFill>
              </a:rPr>
              <a:t>YMH453 Machine Learning, Ankara University Software Engineering, 2026</a:t>
            </a:r>
            <a:endParaRPr lang="en-US" sz="1400" dirty="0"/>
          </a:p>
        </p:txBody>
      </p:sp>
      <p:sp>
        <p:nvSpPr>
          <p:cNvPr id="5" name="approach-light-0"/>
          <p:cNvSpPr/>
          <p:nvPr/>
        </p:nvSpPr>
        <p:spPr>
          <a:xfrm>
            <a:off x="685800" y="4709160"/>
            <a:ext cx="237744" cy="237744"/>
          </a:xfrm>
          <a:prstGeom prst="ellipse">
            <a:avLst/>
          </a:prstGeom>
          <a:solidFill>
            <a:srgbClr val="F2C200"/>
          </a:solidFill>
          <a:ln w="12700">
            <a:solidFill>
              <a:srgbClr val="F2C200"/>
            </a:solidFill>
            <a:prstDash val="solid"/>
          </a:ln>
        </p:spPr>
      </p:sp>
      <p:sp>
        <p:nvSpPr>
          <p:cNvPr id="6" name="approach-light-1"/>
          <p:cNvSpPr/>
          <p:nvPr/>
        </p:nvSpPr>
        <p:spPr>
          <a:xfrm>
            <a:off x="1143000" y="4709160"/>
            <a:ext cx="237744" cy="237744"/>
          </a:xfrm>
          <a:prstGeom prst="ellipse">
            <a:avLst/>
          </a:prstGeom>
          <a:solidFill>
            <a:srgbClr val="F2C200">
              <a:alpha val="82000"/>
            </a:srgbClr>
          </a:solidFill>
          <a:ln w="12700">
            <a:solidFill>
              <a:srgbClr val="F2C200">
                <a:alpha val="82000"/>
              </a:srgbClr>
            </a:solidFill>
            <a:prstDash val="solid"/>
          </a:ln>
        </p:spPr>
      </p:sp>
      <p:sp>
        <p:nvSpPr>
          <p:cNvPr id="7" name="approach-light-2"/>
          <p:cNvSpPr/>
          <p:nvPr/>
        </p:nvSpPr>
        <p:spPr>
          <a:xfrm>
            <a:off x="1600200" y="4709160"/>
            <a:ext cx="237744" cy="237744"/>
          </a:xfrm>
          <a:prstGeom prst="ellipse">
            <a:avLst/>
          </a:prstGeom>
          <a:solidFill>
            <a:srgbClr val="F2C200">
              <a:alpha val="64000"/>
            </a:srgbClr>
          </a:solidFill>
          <a:ln w="12700">
            <a:solidFill>
              <a:srgbClr val="F2C200">
                <a:alpha val="64000"/>
              </a:srgbClr>
            </a:solidFill>
            <a:prstDash val="solid"/>
          </a:ln>
        </p:spPr>
      </p:sp>
      <p:sp>
        <p:nvSpPr>
          <p:cNvPr id="8" name="approach-light-3"/>
          <p:cNvSpPr/>
          <p:nvPr/>
        </p:nvSpPr>
        <p:spPr>
          <a:xfrm>
            <a:off x="2057400" y="4709160"/>
            <a:ext cx="237744" cy="237744"/>
          </a:xfrm>
          <a:prstGeom prst="ellipse">
            <a:avLst/>
          </a:prstGeom>
          <a:solidFill>
            <a:srgbClr val="F2C200">
              <a:alpha val="46000"/>
            </a:srgbClr>
          </a:solidFill>
          <a:ln w="12700">
            <a:solidFill>
              <a:srgbClr val="F2C200">
                <a:alpha val="46000"/>
              </a:srgbClr>
            </a:solidFill>
            <a:prstDash val="solid"/>
          </a:ln>
        </p:spPr>
      </p:sp>
      <p:sp>
        <p:nvSpPr>
          <p:cNvPr id="9" name="approach-light-4"/>
          <p:cNvSpPr/>
          <p:nvPr/>
        </p:nvSpPr>
        <p:spPr>
          <a:xfrm>
            <a:off x="2514600" y="4709160"/>
            <a:ext cx="237744" cy="237744"/>
          </a:xfrm>
          <a:prstGeom prst="ellipse">
            <a:avLst/>
          </a:prstGeom>
          <a:solidFill>
            <a:srgbClr val="F2C200">
              <a:alpha val="28000"/>
            </a:srgbClr>
          </a:solidFill>
          <a:ln w="12700">
            <a:solidFill>
              <a:srgbClr val="F2C200">
                <a:alpha val="28000"/>
              </a:srgbClr>
            </a:solidFill>
            <a:prstDash val="solid"/>
          </a:ln>
        </p:spPr>
      </p:sp>
      <p:pic>
        <p:nvPicPr>
          <p:cNvPr id="10" name="app-preview" descr="C:\Users\Atasa\OneDrive\Masaüstü\Makine Öğrenmesi\Esenboğa Projesi\results\figures\en\app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914400"/>
            <a:ext cx="4206240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Fog is Esenboğa's key operational weather risk</a:t>
            </a:r>
            <a:endParaRPr lang="en-US" sz="3000" dirty="0"/>
          </a:p>
        </p:txBody>
      </p:sp>
      <p:sp>
        <p:nvSpPr>
          <p:cNvPr id="4" name="stat-of fog occur"/>
          <p:cNvSpPr txBox="1"/>
          <p:nvPr/>
        </p:nvSpPr>
        <p:spPr>
          <a:xfrm>
            <a:off x="548640" y="1234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94.6%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fog occurs October–February</a:t>
            </a:r>
            <a:endParaRPr lang="en-US" sz="1400" dirty="0"/>
          </a:p>
        </p:txBody>
      </p:sp>
      <p:sp>
        <p:nvSpPr>
          <p:cNvPr id="6" name="stat-fog hours 20"/>
          <p:cNvSpPr txBox="1"/>
          <p:nvPr/>
        </p:nvSpPr>
        <p:spPr>
          <a:xfrm>
            <a:off x="4343400" y="1234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819.5 h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fog hours 2011–2020 (literature ≈800 h)</a:t>
            </a:r>
            <a:endParaRPr lang="en-US" sz="1400" dirty="0"/>
          </a:p>
        </p:txBody>
      </p:sp>
      <p:sp>
        <p:nvSpPr>
          <p:cNvPr id="8" name="stat-of fog obser"/>
          <p:cNvSpPr txBox="1"/>
          <p:nvPr/>
        </p:nvSpPr>
        <p:spPr>
          <a:xfrm>
            <a:off x="8138160" y="1234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55.5%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fog observations with RVR ≤ 350 m (CAT III)</a:t>
            </a:r>
            <a:endParaRPr lang="en-US" sz="1400" dirty="0"/>
          </a:p>
        </p:txBody>
      </p:sp>
      <p:pic>
        <p:nvPicPr>
          <p:cNvPr id="10" name="Image 0" descr="C:\Users\Atasa\OneDrive\Masaüstü\Makine Öğrenmesi\Esenboğa Projesi\results\figures\en\climat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71800"/>
            <a:ext cx="11064240" cy="3108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and contributions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4206240" cy="4754880"/>
          </a:xfrm>
          <a:prstGeom prst="roundRect">
            <a:avLst>
              <a:gd name="adj" fmla="val 1739"/>
            </a:avLst>
          </a:prstGeom>
          <a:solidFill>
            <a:srgbClr val="E6EBEF"/>
          </a:solidFill>
          <a:ln w="12700">
            <a:solidFill>
              <a:srgbClr val="E6EB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of the art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11680"/>
            <a:ext cx="379476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Esenboğa: climatological and synoptic analyses (2010, 2022)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machine-learning forecast 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Fair comparison with official TAF/TREND is rare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models learn is rarely explained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66360" y="1399032"/>
            <a:ext cx="502920" cy="502920"/>
          </a:xfrm>
          <a:prstGeom prst="ellipse">
            <a:avLst/>
          </a:prstGeom>
          <a:solidFill>
            <a:srgbClr val="F2C200"/>
          </a:solidFill>
          <a:ln w="12700">
            <a:solidFill>
              <a:srgbClr val="F2C2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6636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13258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21.8-year open data set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3E5A"/>
                </a:solidFill>
              </a:rPr>
              <a:t>quality-controlled METAR/SPECI reproducing the climatology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166360" y="2350008"/>
            <a:ext cx="502920" cy="502920"/>
          </a:xfrm>
          <a:prstGeom prst="ellipse">
            <a:avLst/>
          </a:prstGeom>
          <a:solidFill>
            <a:srgbClr val="F2C200"/>
          </a:solidFill>
          <a:ln w="12700">
            <a:solidFill>
              <a:srgbClr val="F2C2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6636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227685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Benchmark of 6 model families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3E5A"/>
                </a:solidFill>
              </a:rPr>
              <a:t>calibration, imbalance ablation, bootstrap significance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166360" y="3300984"/>
            <a:ext cx="502920" cy="502920"/>
          </a:xfrm>
          <a:prstGeom prst="ellipse">
            <a:avLst/>
          </a:prstGeom>
          <a:solidFill>
            <a:srgbClr val="F2C200"/>
          </a:solidFill>
          <a:ln w="12700">
            <a:solidFill>
              <a:srgbClr val="F2C2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6636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322783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ILS/RVR category forecasts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3E5A"/>
                </a:solidFill>
              </a:rPr>
              <a:t>ordinal formulation, onset/dissipation analysis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166360" y="4251960"/>
            <a:ext cx="502920" cy="502920"/>
          </a:xfrm>
          <a:prstGeom prst="ellipse">
            <a:avLst/>
          </a:prstGeom>
          <a:solidFill>
            <a:srgbClr val="F2C200"/>
          </a:solidFill>
          <a:ln w="12700">
            <a:solidFill>
              <a:srgbClr val="F2C2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63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417880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Explainability with SHAP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3E5A"/>
                </a:solidFill>
              </a:rPr>
              <a:t>learnt relationships consistent with fog physics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166360" y="5202936"/>
            <a:ext cx="502920" cy="502920"/>
          </a:xfrm>
          <a:prstGeom prst="ellipse">
            <a:avLst/>
          </a:prstGeom>
          <a:solidFill>
            <a:srgbClr val="F2C200"/>
          </a:solidFill>
          <a:ln w="12700">
            <a:solidFill>
              <a:srgbClr val="F2C2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66360" y="5202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0" y="512978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Live early-warning application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3E5A"/>
                </a:solidFill>
              </a:rPr>
              <a:t>same pipeline, tiered alerts, real-time verification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21.8 years of METAR/SPECI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6EBEF"/>
          </a:solidFill>
          <a:ln w="12700">
            <a:solidFill>
              <a:srgbClr val="E6EBEF"/>
            </a:solidFill>
            <a:prstDash val="solid"/>
          </a:ln>
        </p:spPr>
      </p:sp>
      <p:sp>
        <p:nvSpPr>
          <p:cNvPr id="5" name="stat-METAR/SPECI "/>
          <p:cNvSpPr txBox="1"/>
          <p:nvPr/>
        </p:nvSpPr>
        <p:spPr>
          <a:xfrm>
            <a:off x="777240" y="14356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385,018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12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METAR/SPECI reports after QC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43400" y="132588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6EBEF"/>
          </a:solidFill>
          <a:ln w="12700">
            <a:solidFill>
              <a:srgbClr val="E6EBEF"/>
            </a:solidFill>
            <a:prstDash val="solid"/>
          </a:ln>
        </p:spPr>
      </p:sp>
      <p:sp>
        <p:nvSpPr>
          <p:cNvPr id="8" name="stat-coverage of "/>
          <p:cNvSpPr txBox="1"/>
          <p:nvPr/>
        </p:nvSpPr>
        <p:spPr>
          <a:xfrm>
            <a:off x="4572000" y="14356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212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coverage of the 30-min grid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38160" y="132588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6EBEF"/>
          </a:solidFill>
          <a:ln w="12700">
            <a:solidFill>
              <a:srgbClr val="E6EBEF"/>
            </a:solidFill>
            <a:prstDash val="solid"/>
          </a:ln>
        </p:spPr>
      </p:sp>
      <p:sp>
        <p:nvSpPr>
          <p:cNvPr id="11" name="stat-fog episodes"/>
          <p:cNvSpPr txBox="1"/>
          <p:nvPr/>
        </p:nvSpPr>
        <p:spPr>
          <a:xfrm>
            <a:off x="8366760" y="14356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537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2212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fog episodes; median duration 2 h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6EBEF"/>
          </a:solidFill>
          <a:ln w="12700">
            <a:solidFill>
              <a:srgbClr val="E6EBEF"/>
            </a:solidFill>
            <a:prstDash val="solid"/>
          </a:ln>
        </p:spPr>
      </p:sp>
      <p:sp>
        <p:nvSpPr>
          <p:cNvPr id="14" name="stat-fog slots (V"/>
          <p:cNvSpPr txBox="1"/>
          <p:nvPr/>
        </p:nvSpPr>
        <p:spPr>
          <a:xfrm>
            <a:off x="777240" y="31272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1.02%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9044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fog slots (VIS &lt; 1000 m)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43400" y="30175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6EBEF"/>
          </a:solidFill>
          <a:ln w="12700">
            <a:solidFill>
              <a:srgbClr val="E6EBEF"/>
            </a:solidFill>
            <a:prstDash val="solid"/>
          </a:ln>
        </p:spPr>
      </p:sp>
      <p:sp>
        <p:nvSpPr>
          <p:cNvPr id="17" name="stat-RVR reported"/>
          <p:cNvSpPr txBox="1"/>
          <p:nvPr/>
        </p:nvSpPr>
        <p:spPr>
          <a:xfrm>
            <a:off x="4572000" y="31272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39044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RVR reported when VIS &lt; 1500 m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138160" y="301752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6EBEF"/>
          </a:solidFill>
          <a:ln w="12700">
            <a:solidFill>
              <a:srgbClr val="E6EBEF"/>
            </a:solidFill>
            <a:prstDash val="solid"/>
          </a:ln>
        </p:spPr>
      </p:sp>
      <p:sp>
        <p:nvSpPr>
          <p:cNvPr id="20" name="stat-reports remo"/>
          <p:cNvSpPr txBox="1"/>
          <p:nvPr/>
        </p:nvSpPr>
        <p:spPr>
          <a:xfrm>
            <a:off x="8366760" y="31272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 / 47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8366760" y="39044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reports removed / values corrected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Sources: Iowa Environmental Mesonet (original METARs), Ogimet (gap filling 2005–2012), NOAA AWC (live data, last 30 days of TAFs). Synthetic ISD records (no RVR/TREND) were removed.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overview</a:t>
            </a:r>
            <a:endParaRPr lang="en-US" sz="3000" dirty="0"/>
          </a:p>
        </p:txBody>
      </p:sp>
      <p:pic>
        <p:nvPicPr>
          <p:cNvPr id="4" name="Image 0" descr="C:\Users\Atasa\OneDrive\Masaüstü\Makine Öğrenmesi\Esenboğa Projesi\results\figures\en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789920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 and predictors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Predictands (1, 3, 6 h ahead)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2B3E5A"/>
          </a:solidFill>
          <a:ln w="12700">
            <a:solidFill>
              <a:srgbClr val="2B3E5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8288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Fog: prevailing visibility &lt; 1000 m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1F9D5B"/>
          </a:solidFill>
          <a:ln w="12700">
            <a:solidFill>
              <a:srgbClr val="1F9D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6060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CAT I+: RVR ≥ 550 m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E2762B"/>
          </a:solidFill>
          <a:ln w="12700">
            <a:solidFill>
              <a:srgbClr val="E276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3832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CAT II: 350 ≤ RVR &lt; 550 m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16052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C8323F"/>
          </a:solidFill>
          <a:ln w="12700">
            <a:solidFill>
              <a:srgbClr val="C8323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1605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CAT III: RVR &lt; 350 m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Boundaries: Çamalan et al. (2010), ICAO Doc 9365.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7200"/>
                <a:gridCol w="3566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Current state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21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visibility, RVR, T, Td, T−Td, RH, wind, QNH, cloud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Present weather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FG, BCFG/MIFG, BR, HZ, DZ, RA, SN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Tendencies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1/3/6-h cooling, drying/moistening, visibility trend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Memory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cooling since 12-h max, hours since fog, snow fraction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Sun and calendar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3233A"/>
                          </a:solidFill>
                        </a:rPr>
                        <a:t>solar elevation, time to sunrise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and leakage-free validation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7130288" cy="685800"/>
          </a:xfrm>
          <a:prstGeom prst="rect">
            <a:avLst/>
          </a:prstGeom>
          <a:solidFill>
            <a:srgbClr val="2B3E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371600"/>
            <a:ext cx="7038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Training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2005–2019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78928" y="1371600"/>
            <a:ext cx="1475232" cy="685800"/>
          </a:xfrm>
          <a:prstGeom prst="rect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52080" y="1371600"/>
            <a:ext cx="138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Validation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2019–2022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54160" y="1371600"/>
            <a:ext cx="1966976" cy="685800"/>
          </a:xfrm>
          <a:prstGeom prst="rect">
            <a:avLst/>
          </a:prstGeom>
          <a:solidFill>
            <a:srgbClr val="1F9D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227312" y="1371600"/>
            <a:ext cx="1875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Test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2022–2026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121136" y="1371600"/>
            <a:ext cx="491744" cy="685800"/>
          </a:xfrm>
          <a:prstGeom prst="rect">
            <a:avLst/>
          </a:prstGeom>
          <a:solidFill>
            <a:srgbClr val="F2C2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194288" y="13716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Live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3233A"/>
                </a:solidFill>
              </a:rPr>
              <a:t>2026–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E6EBEF"/>
          </a:solidFill>
          <a:ln w="12700">
            <a:solidFill>
              <a:srgbClr val="E6EB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154680"/>
            <a:ext cx="32004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Logistic regression (baseline)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Random forest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XGBoost and LightGBM (Optuna, 30 trials)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Multi-task GRU and LSTM (12-h sequence, GPU)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343400" y="24688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E6EBEF"/>
          </a:solidFill>
          <a:ln w="12700">
            <a:solidFill>
              <a:srgbClr val="E6EB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628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 and calibration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526280" y="3154680"/>
            <a:ext cx="32004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Fog is only 1% of samples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SMOTE/weights distort probabilities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Calibration: none/Platt/isotonic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Threshold: max CSI on validation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138160" y="24688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E6EBEF"/>
          </a:solidFill>
          <a:ln w="12700">
            <a:solidFill>
              <a:srgbClr val="E6EB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2104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control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3154680"/>
            <a:ext cx="32004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Features use data up to t only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Target is a new report at t+h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Automated leakage tests (17 tests)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 seasons evaluated once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models significantly beat persistence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relative CSI"/>
          <p:cNvSpPr txBox="1"/>
          <p:nvPr/>
        </p:nvSpPr>
        <p:spPr>
          <a:xfrm>
            <a:off x="7772400" y="13716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+12%  +45%  +130%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7772400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relative CSI gain at 1/3/6 h (LightGBM)</a:t>
            </a:r>
            <a:endParaRPr lang="en-US" sz="1400" dirty="0"/>
          </a:p>
        </p:txBody>
      </p:sp>
      <p:sp>
        <p:nvSpPr>
          <p:cNvPr id="7" name="stat-models signi"/>
          <p:cNvSpPr txBox="1"/>
          <p:nvPr/>
        </p:nvSpPr>
        <p:spPr>
          <a:xfrm>
            <a:off x="7772400" y="2788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7772400" y="3566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models significant at every lead (bootstrap, p &lt; 0.05)</a:t>
            </a:r>
            <a:endParaRPr lang="en-US" sz="1400" dirty="0"/>
          </a:p>
        </p:txBody>
      </p:sp>
      <p:sp>
        <p:nvSpPr>
          <p:cNvPr id="9" name="stat-3–6 h: GRU/L"/>
          <p:cNvSpPr txBox="1"/>
          <p:nvPr/>
        </p:nvSpPr>
        <p:spPr>
          <a:xfrm>
            <a:off x="7772400" y="42062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h: LightGBM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4983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3–6 h: GRU/LSTM best probabilistic skill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also beats the official TREND forecast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846320" y="123444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1325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CSI at 1 h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87452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1874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LightGBM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3108960" y="18745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0.73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548640" y="260604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E6EBEF"/>
          </a:solidFill>
          <a:ln w="12700">
            <a:solidFill>
              <a:srgbClr val="E6EBE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A"/>
                </a:solidFill>
              </a:rPr>
              <a:t>Persistence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3108960" y="26060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3233A"/>
                </a:solidFill>
              </a:rPr>
              <a:t>0.65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E6EBEF"/>
          </a:solidFill>
          <a:ln w="12700">
            <a:solidFill>
              <a:srgbClr val="E6EBE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3152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3A"/>
                </a:solidFill>
              </a:rPr>
              <a:t>TREND (official)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108960" y="3337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3233A"/>
                </a:solidFill>
              </a:rPr>
              <a:t>0.62</a:t>
            </a:r>
            <a:endParaRPr lang="en-US" sz="2200" dirty="0"/>
          </a:p>
        </p:txBody>
      </p:sp>
      <p:sp>
        <p:nvSpPr>
          <p:cNvPr id="15" name="stat-LightGBM − T"/>
          <p:cNvSpPr txBox="1"/>
          <p:nvPr/>
        </p:nvSpPr>
        <p:spPr>
          <a:xfrm>
            <a:off x="548640" y="42062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ΔCSI = +0.105</a:t>
            </a:r>
            <a:endParaRPr lang="en-US" sz="32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983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LightGBM − TREND, 95% CI [0.075, 0.140]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part: fog onsets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dissipations"/>
          <p:cNvSpPr txBox="1"/>
          <p:nvPr/>
        </p:nvSpPr>
        <p:spPr>
          <a:xfrm>
            <a:off x="7955280" y="13716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7955280" y="2148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dissipations forecast 6 h ahead (GRU; persistence 68%)</a:t>
            </a:r>
            <a:endParaRPr lang="en-US" sz="1400" dirty="0"/>
          </a:p>
        </p:txBody>
      </p:sp>
      <p:sp>
        <p:nvSpPr>
          <p:cNvPr id="7" name="stat-onsets captu"/>
          <p:cNvSpPr txBox="1"/>
          <p:nvPr/>
        </p:nvSpPr>
        <p:spPr>
          <a:xfrm>
            <a:off x="7955280" y="3063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2–21%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795528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onsets captured at the max-CSI thresholds</a:t>
            </a:r>
            <a:endParaRPr lang="en-US" sz="1400" dirty="0"/>
          </a:p>
        </p:txBody>
      </p:sp>
      <p:sp>
        <p:nvSpPr>
          <p:cNvPr id="9" name="stat-more onsets "/>
          <p:cNvSpPr txBox="1"/>
          <p:nvPr/>
        </p:nvSpPr>
        <p:spPr>
          <a:xfrm>
            <a:off x="7955280" y="4754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×2–3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5532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more onsets flagged at the watch level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ILS-category forecasts</a:t>
            </a:r>
            <a:endParaRPr lang="en-US" sz="3000" dirty="0"/>
          </a:p>
        </p:txBody>
      </p:sp>
      <p:pic>
        <p:nvPicPr>
          <p:cNvPr id="4" name="Image 0" descr="C:\Users\Atasa\OneDrive\Masaüstü\Makine Öğrenmesi\Esenboğa Projesi\results\figures\en\rvr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589520" cy="2880360"/>
          </a:xfrm>
          <a:prstGeom prst="rect">
            <a:avLst/>
          </a:prstGeom>
        </p:spPr>
      </p:pic>
      <p:sp>
        <p:nvSpPr>
          <p:cNvPr id="5" name="stat-RPSS 1 h"/>
          <p:cNvSpPr txBox="1"/>
          <p:nvPr/>
        </p:nvSpPr>
        <p:spPr>
          <a:xfrm>
            <a:off x="8595360" y="1325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859536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RPSS 1 h</a:t>
            </a:r>
            <a:endParaRPr lang="en-US" sz="1400" dirty="0"/>
          </a:p>
        </p:txBody>
      </p:sp>
      <p:sp>
        <p:nvSpPr>
          <p:cNvPr id="7" name="stat-RPSS 3 h"/>
          <p:cNvSpPr txBox="1"/>
          <p:nvPr/>
        </p:nvSpPr>
        <p:spPr>
          <a:xfrm>
            <a:off x="8595360" y="2788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0.41</a:t>
            </a:r>
            <a:endParaRPr lang="en-US" sz="3800" dirty="0"/>
          </a:p>
        </p:txBody>
      </p:sp>
      <p:sp>
        <p:nvSpPr>
          <p:cNvPr id="8" name="Text 4"/>
          <p:cNvSpPr txBox="1"/>
          <p:nvPr/>
        </p:nvSpPr>
        <p:spPr>
          <a:xfrm>
            <a:off x="8595360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RPSS 3 h</a:t>
            </a:r>
            <a:endParaRPr lang="en-US" sz="1400" dirty="0"/>
          </a:p>
        </p:txBody>
      </p:sp>
      <p:sp>
        <p:nvSpPr>
          <p:cNvPr id="9" name="stat-RPSS 6 h"/>
          <p:cNvSpPr txBox="1"/>
          <p:nvPr/>
        </p:nvSpPr>
        <p:spPr>
          <a:xfrm>
            <a:off x="8595360" y="4251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RPSS 6 h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434840"/>
            <a:ext cx="758952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CAT III (RVR &lt; 350 m): 76% correct at 1 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CAT II: narrow transitional band, often confused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Persistence RPSS: 0.43 → −0.17 → −0.70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Explainability: the model learnt fog physics</a:t>
            </a:r>
            <a:endParaRPr lang="en-US" sz="3000" dirty="0"/>
          </a:p>
        </p:txBody>
      </p:sp>
      <p:pic>
        <p:nvPicPr>
          <p:cNvPr id="4" name="Image 0" descr="C:\Users\Atasa\OneDrive\Masaüstü\Makine Öğrenmesi\Esenboğa Projesi\results\figures\en\shap_gro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206240" cy="2514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120640" y="1371600"/>
            <a:ext cx="64922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1 h: current humidity and visibility (78%)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6 h: sun/calendar 28%, memory 21%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T−Td ≤ 2 °C and wind ≤ 3 kt → fog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After sunrise → dissipation</a:t>
            </a:r>
            <a:endParaRPr lang="en-US" sz="1700" dirty="0"/>
          </a:p>
        </p:txBody>
      </p:sp>
      <p:pic>
        <p:nvPicPr>
          <p:cNvPr id="6" name="Image 1" descr="C:\Users\Atasa\OneDrive\Masaüstü\Makine Öğrenmesi\Esenboğa Projesi\results\figures\en\shap_depend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77640"/>
            <a:ext cx="11064240" cy="2423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17–18 December 2022</a:t>
            </a:r>
            <a:endParaRPr lang="en-US" sz="3000" dirty="0"/>
          </a:p>
        </p:txBody>
      </p:sp>
      <p:pic>
        <p:nvPicPr>
          <p:cNvPr id="4" name="Image 0" descr="C:\Users\Atasa\OneDrive\Masaüstü\Makine Öğrenmesi\Esenboğa Projesi\results\figures\en\case_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452360" cy="2286000"/>
          </a:xfrm>
          <a:prstGeom prst="rect">
            <a:avLst/>
          </a:prstGeom>
        </p:spPr>
      </p:pic>
      <p:pic>
        <p:nvPicPr>
          <p:cNvPr id="5" name="Image 1" descr="C:\Users\Atasa\OneDrive\Masaüstü\Makine Öğrenmesi\Esenboğa Projesi\results\figures\en\shap_waterf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234440"/>
            <a:ext cx="3429000" cy="3154680"/>
          </a:xfrm>
          <a:prstGeom prst="rect">
            <a:avLst/>
          </a:prstGeom>
        </p:spPr>
      </p:pic>
      <p:sp>
        <p:nvSpPr>
          <p:cNvPr id="6" name="stat-fog probabil"/>
          <p:cNvSpPr txBox="1"/>
          <p:nvPr/>
        </p:nvSpPr>
        <p:spPr>
          <a:xfrm>
            <a:off x="548640" y="3977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0.82</a:t>
            </a:r>
            <a:endParaRPr lang="en-US" sz="38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4754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fog probability for +3 h issued at 16:20 UTC (threshold 0.33)</a:t>
            </a:r>
            <a:endParaRPr lang="en-US" sz="1400" dirty="0"/>
          </a:p>
        </p:txBody>
      </p:sp>
      <p:sp>
        <p:nvSpPr>
          <p:cNvPr id="8" name="stat-later, fog f"/>
          <p:cNvSpPr txBox="1"/>
          <p:nvPr/>
        </p:nvSpPr>
        <p:spPr>
          <a:xfrm>
            <a:off x="4206240" y="3977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3800" dirty="0"/>
          </a:p>
        </p:txBody>
      </p:sp>
      <p:sp>
        <p:nvSpPr>
          <p:cNvPr id="9" name="Text 4"/>
          <p:cNvSpPr txBox="1"/>
          <p:nvPr/>
        </p:nvSpPr>
        <p:spPr>
          <a:xfrm>
            <a:off x="4206240" y="4754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later, fog formed (16:50 UTC)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early-warning application</a:t>
            </a:r>
            <a:endParaRPr lang="en-US" sz="3000" dirty="0"/>
          </a:p>
        </p:txBody>
      </p:sp>
      <p:pic>
        <p:nvPicPr>
          <p:cNvPr id="4" name="Image 0" descr="C:\Users\Atasa\OneDrive\Masaüstü\Makine Öğrenmesi\Esenboğa Projesi\results\figures\en\app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257800" cy="510235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172200" y="1325880"/>
            <a:ext cx="544068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Live METARs every 10 min (NOAA AWC, IEM fallback)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Identical pipeline to training: parity difference 0.0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Tiered alerts: green / yellow (watch) / orange / red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SHAP-based driving factors in plain language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SQLite log with automatic real-time verification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July–October 2026: 5,700+ forecasts, 0 false alarms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Live page (GitHub Actions, every 30 min): atasakik.github.io/esenboga-fog-nowcasting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 / 0.47 / 0.34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48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BEF"/>
                </a:solidFill>
              </a:rPr>
              <a:t>best CSI at 1/3/6 h; persistence 0.65 / 0.32 / 0.13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343400" y="1417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+0.105 CSI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2148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BEF"/>
                </a:solidFill>
              </a:rPr>
              <a:t>over the official METAR TREND at 1 h (significant)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1417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Physically consistent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148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BEF"/>
                </a:solidFill>
              </a:rPr>
              <a:t>SHAP: saturation, weak mixing, radiative cycle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37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840480"/>
            <a:ext cx="69494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6EBEF"/>
                </a:solidFill>
              </a:rPr>
              <a:t>NWP, satellite and ceilometer predictors for onset detection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6EBEF"/>
                </a:solidFill>
              </a:rPr>
              <a:t>Full-season TAF comparison (live log)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6EBEF"/>
                </a:solidFill>
              </a:rPr>
              <a:t>Transfer to other Turkish airports</a:t>
            </a:r>
            <a:endParaRPr lang="en-US" sz="1600" dirty="0"/>
          </a:p>
        </p:txBody>
      </p:sp>
      <p:sp>
        <p:nvSpPr>
          <p:cNvPr id="12" name="Text 9">
            <a:hlinkClick r:id="rId1" tooltip=""/>
          </p:cNvPr>
          <p:cNvSpPr txBox="1"/>
          <p:nvPr/>
        </p:nvSpPr>
        <p:spPr>
          <a:xfrm>
            <a:off x="548640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github.com/AtaSakik/esenboga-fog-nowcasting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5212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TAC Fog">
  <a:themeElements>
    <a:clrScheme name="LTAC Fog">
      <a:dk1>
        <a:srgbClr val="13233A"/>
      </a:dk1>
      <a:lt1>
        <a:srgbClr val="FFFFFF"/>
      </a:lt1>
      <a:dk2>
        <a:srgbClr val="2B3E5A"/>
      </a:dk2>
      <a:lt2>
        <a:srgbClr val="E6EBEF"/>
      </a:lt2>
      <a:accent1>
        <a:srgbClr val="F2C200"/>
      </a:accent1>
      <a:accent2>
        <a:srgbClr val="1F77B4"/>
      </a:accent2>
      <a:accent3>
        <a:srgbClr val="C8323F"/>
      </a:accent3>
      <a:accent4>
        <a:srgbClr val="1F9D5B"/>
      </a:accent4>
      <a:accent5>
        <a:srgbClr val="E2762B"/>
      </a:accent5>
      <a:accent6>
        <a:srgbClr val="7F8C9A"/>
      </a:accent6>
      <a:hlink>
        <a:srgbClr val="1F77B4"/>
      </a:hlink>
      <a:folHlink>
        <a:srgbClr val="2B3E5A"/>
      </a:folHlink>
    </a:clrScheme>
    <a:fontScheme name="LTAC Fo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Machine-Learning Nowcasting of Fog and Low Visibility at Esenboğa</dc:title>
  <dc:subject>YMH453 term project</dc:subject>
  <dc:creator>Ata Sakik</dc:creator>
  <cp:lastModifiedBy>Ata Sakik</cp:lastModifiedBy>
  <cp:revision>1</cp:revision>
  <dcterms:created xsi:type="dcterms:W3CDTF">2026-10-29T22:53:35Z</dcterms:created>
  <dcterms:modified xsi:type="dcterms:W3CDTF">2026-10-29T22:53:35Z</dcterms:modified>
</cp:coreProperties>
</file>