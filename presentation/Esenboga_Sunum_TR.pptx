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d7a545ad-c44c-55ea-ef73-feaf9e1d5570}">
          <p14:sldIdLst>
            <p14:sldId id="256"/>
            <p14:sldId id="257"/>
            <p14:sldId id="258"/>
          </p14:sldIdLst>
        </p14:section>
        <p14:section name="Veri ve yöntem" id="{52dea1ed-680e-536e-f7b8-e93538acbc58}">
          <p14:sldIdLst>
            <p14:sldId id="259"/>
            <p14:sldId id="260"/>
            <p14:sldId id="261"/>
            <p14:sldId id="262"/>
          </p14:sldIdLst>
        </p14:section>
        <p14:section name="Bulgular" id="{8ff7e378-bf06-ea44-9a55-137892da12e1}">
          <p14:sldIdLst>
            <p14:sldId id="263"/>
            <p14:sldId id="264"/>
            <p14:sldId id="265"/>
            <p14:sldId id="266"/>
            <p14:sldId id="267"/>
            <p14:sldId id="268"/>
          </p14:sldIdLst>
        </p14:section>
        <p14:section name="Uygulama ve sonuç" id="{67d75f94-31ed-26ea-9494-87d49c3bb3b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3233A"/>
                </a:solidFill>
                <a:latin typeface="+mj-lt"/>
              </a:defRPr>
            </a:pPr>
            <a:r>
              <a:rPr sz="1600" b="0" i="0" u="none" strike="noStrike">
                <a:solidFill>
                  <a:srgbClr val="13233A"/>
                </a:solidFill>
                <a:latin typeface="+mj-lt"/>
              </a:rPr>
              <a:t>Kritik başarı indeksi (CSI), test 2022–2026</a:t>
            </a:r>
          </a:p>
        </c:rich>
      </c:tx>
      <c:layout/>
      <c:overlay val="0"/>
    </c:title>
    <c:autoTitleDeleted val="0"/>
    <c:plotArea>
      <c:layout/>
      <c:barChart>
        <c:barDir val="col"/>
        <c:grouping val="clustered"/>
        <c:varyColors val="0"/>
        <c:ser>
          <c:idx val="0"/>
          <c:order val="0"/>
          <c:tx>
            <c:strRef>
              <c:f>Sheet1!$B$1</c:f>
              <c:strCache>
                <c:ptCount val="1"/>
                <c:pt idx="0">
                  <c:v>En iyi ML</c:v>
                </c:pt>
              </c:strCache>
            </c:strRef>
          </c:tx>
          <c:spPr>
            <a:solidFill>
              <a:srgbClr val="1F77B4"/>
            </a:solidFill>
            <a:effectLst/>
          </c:spPr>
          <c:invertIfNegative val="0"/>
          <c:dLbls>
            <c:numFmt formatCode="0.0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cat>
            <c:multiLvlStrRef>
              <c:f>Sheet1!$A$2:$A$4</c:f>
              <c:multiLvlStrCache>
                <c:ptCount val="3"/>
                <c:lvl>
                  <c:pt idx="0">
                    <c:v>1 sa</c:v>
                  </c:pt>
                  <c:pt idx="1">
                    <c:v>3 sa</c:v>
                  </c:pt>
                  <c:pt idx="2">
                    <c:v>6 sa</c:v>
                  </c:pt>
                </c:lvl>
              </c:multiLvlStrCache>
            </c:multiLvlStrRef>
          </c:cat>
          <c:val>
            <c:numRef>
              <c:f>Sheet1!$B$2:$B$4</c:f>
              <c:numCache>
                <c:formatCode>General</c:formatCode>
                <c:ptCount val="3"/>
                <c:pt idx="0">
                  <c:v>0.729</c:v>
                </c:pt>
                <c:pt idx="1">
                  <c:v>0.472</c:v>
                </c:pt>
                <c:pt idx="2">
                  <c:v>0.34</c:v>
                </c:pt>
              </c:numCache>
            </c:numRef>
          </c:val>
        </c:ser>
        <c:ser>
          <c:idx val="1"/>
          <c:order val="1"/>
          <c:tx>
            <c:strRef>
              <c:f>Sheet1!$C$1</c:f>
              <c:strCache>
                <c:ptCount val="1"/>
                <c:pt idx="0">
                  <c:v>Kalıcılık</c:v>
                </c:pt>
              </c:strCache>
            </c:strRef>
          </c:tx>
          <c:spPr>
            <a:solidFill>
              <a:srgbClr val="13233A"/>
            </a:solidFill>
            <a:effectLst/>
          </c:spPr>
          <c:invertIfNegative val="0"/>
          <c:dLbls>
            <c:numFmt formatCode="0.0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cat>
            <c:multiLvlStrRef>
              <c:f>Sheet1!$A$2:$A$4</c:f>
              <c:multiLvlStrCache>
                <c:ptCount val="3"/>
                <c:lvl>
                  <c:pt idx="0">
                    <c:v>1 sa</c:v>
                  </c:pt>
                  <c:pt idx="1">
                    <c:v>3 sa</c:v>
                  </c:pt>
                  <c:pt idx="2">
                    <c:v>6 sa</c:v>
                  </c:pt>
                </c:lvl>
              </c:multiLvlStrCache>
            </c:multiLvlStrRef>
          </c:cat>
          <c:val>
            <c:numRef>
              <c:f>Sheet1!$C$2:$C$4</c:f>
              <c:numCache>
                <c:formatCode>General</c:formatCode>
                <c:ptCount val="3"/>
                <c:pt idx="0">
                  <c:v>0.652</c:v>
                </c:pt>
                <c:pt idx="1">
                  <c:v>0.321</c:v>
                </c:pt>
                <c:pt idx="2">
                  <c:v>0.129</c:v>
                </c:pt>
              </c:numCache>
            </c:numRef>
          </c:val>
        </c:ser>
        <c:dLbls>
          <c:numFmt formatCode="0.0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E5A"/>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E1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F8C9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3233A"/>
                </a:solidFill>
                <a:latin typeface="+mj-lt"/>
              </a:defRPr>
            </a:pPr>
            <a:r>
              <a:rPr sz="1600" b="0" i="0" u="none" strike="noStrike">
                <a:solidFill>
                  <a:srgbClr val="13233A"/>
                </a:solidFill>
                <a:latin typeface="+mj-lt"/>
              </a:rPr>
              <a:t>CSI ve öngörü süresi</a:t>
            </a:r>
          </a:p>
        </c:rich>
      </c:tx>
      <c:layout/>
      <c:overlay val="0"/>
    </c:title>
    <c:autoTitleDeleted val="0"/>
    <c:plotArea>
      <c:layout/>
      <c:lineChart>
        <c:varyColors val="0"/>
        <c:ser>
          <c:idx val="0"/>
          <c:order val="0"/>
          <c:tx>
            <c:strRef>
              <c:f>Sheet1!$B$1</c:f>
              <c:strCache>
                <c:ptCount val="1"/>
                <c:pt idx="0">
                  <c:v>LightGBM</c:v>
                </c:pt>
              </c:strCache>
            </c:strRef>
          </c:tx>
          <c:spPr>
            <a:solidFill>
              <a:srgbClr val="1F77B4"/>
            </a:solidFill>
            <a:ln w="38100" cap="flat">
              <a:solidFill>
                <a:srgbClr val="1F77B4"/>
              </a:solidFill>
              <a:prstDash val="solid"/>
              <a:round/>
            </a:ln>
            <a:effectLst/>
          </c:spPr>
          <c:invertIfNegative val="0"/>
          <c:dLbls>
            <c:numFmt formatCode="0.00" sourceLinked="0"/>
            <c:txPr>
              <a:bodyPr/>
              <a:lstStyle/>
              <a:p>
                <a:pPr>
                  <a:defRPr b="0" i="0" strike="noStrike" sz="1100" u="none">
                    <a:solidFill>
                      <a:srgbClr val="13233A"/>
                    </a:solidFill>
                    <a:latin typeface="+mn-lt"/>
                  </a:defRPr>
                </a:pPr>
              </a:p>
            </c:txPr>
            <c:dLblPos val="t"/>
            <c:showLegendKey val="0"/>
            <c:showVal val="1"/>
            <c:showCatName val="0"/>
            <c:showSerName val="0"/>
            <c:showPercent val="0"/>
            <c:showBubbleSize val="0"/>
            <c:showLeaderLines val="0"/>
          </c:dLbls>
          <c:marker>
            <c:symbol val="circle"/>
            <c:size val="8"/>
            <c:spPr>
              <a:solidFill>
                <a:srgbClr val="1F77B4"/>
              </a:solidFill>
              <a:ln w="9525" cap="flat">
                <a:solidFill>
                  <a:srgbClr val="1F77B4"/>
                </a:solidFill>
                <a:prstDash val="solid"/>
                <a:round/>
              </a:ln>
              <a:effectLst/>
            </c:spPr>
          </c:marker>
          <c:cat>
            <c:multiLvlStrRef>
              <c:f>Sheet1!$A$2:$A$7</c:f>
              <c:multiLvlStrCache>
                <c:ptCount val="6"/>
                <c:lvl>
                  <c:pt idx="0">
                    <c:v>1 sa</c:v>
                  </c:pt>
                  <c:pt idx="1">
                    <c:v>2 sa</c:v>
                  </c:pt>
                  <c:pt idx="2">
                    <c:v>3 sa</c:v>
                  </c:pt>
                  <c:pt idx="3">
                    <c:v>4 sa</c:v>
                  </c:pt>
                  <c:pt idx="4">
                    <c:v>5 sa</c:v>
                  </c:pt>
                  <c:pt idx="5">
                    <c:v>6 sa</c:v>
                  </c:pt>
                </c:lvl>
              </c:multiLvlStrCache>
            </c:multiLvlStrRef>
          </c:cat>
          <c:val>
            <c:numRef>
              <c:f>Sheet1!$B$2:$B$7</c:f>
              <c:numCache>
                <c:formatCode>General</c:formatCode>
                <c:ptCount val="6"/>
                <c:pt idx="0">
                  <c:v>0.729</c:v>
                </c:pt>
                <c:pt idx="1">
                  <c:v>0.544</c:v>
                </c:pt>
                <c:pt idx="2">
                  <c:v>0.467</c:v>
                </c:pt>
                <c:pt idx="3">
                  <c:v>0.384</c:v>
                </c:pt>
                <c:pt idx="4">
                  <c:v>0.346</c:v>
                </c:pt>
                <c:pt idx="5">
                  <c:v>0.297</c:v>
                </c:pt>
              </c:numCache>
            </c:numRef>
          </c:val>
          <c:smooth val="0"/>
        </c:ser>
        <c:ser>
          <c:idx val="1"/>
          <c:order val="1"/>
          <c:tx>
            <c:strRef>
              <c:f>Sheet1!$C$1</c:f>
              <c:strCache>
                <c:ptCount val="1"/>
                <c:pt idx="0">
                  <c:v>Kalıcılık</c:v>
                </c:pt>
              </c:strCache>
            </c:strRef>
          </c:tx>
          <c:spPr>
            <a:solidFill>
              <a:srgbClr val="13233A"/>
            </a:solidFill>
            <a:ln w="38100" cap="flat">
              <a:solidFill>
                <a:srgbClr val="13233A"/>
              </a:solidFill>
              <a:prstDash val="solid"/>
              <a:round/>
            </a:ln>
            <a:effectLst/>
          </c:spPr>
          <c:invertIfNegative val="0"/>
          <c:dLbls>
            <c:numFmt formatCode="0.00" sourceLinked="0"/>
            <c:txPr>
              <a:bodyPr/>
              <a:lstStyle/>
              <a:p>
                <a:pPr>
                  <a:defRPr b="0" i="0" strike="noStrike" sz="1100" u="none">
                    <a:solidFill>
                      <a:srgbClr val="13233A"/>
                    </a:solidFill>
                    <a:latin typeface="+mn-lt"/>
                  </a:defRPr>
                </a:pPr>
              </a:p>
            </c:txPr>
            <c:dLblPos val="t"/>
            <c:showLegendKey val="0"/>
            <c:showVal val="1"/>
            <c:showCatName val="0"/>
            <c:showSerName val="0"/>
            <c:showPercent val="0"/>
            <c:showBubbleSize val="0"/>
            <c:showLeaderLines val="0"/>
          </c:dLbls>
          <c:marker>
            <c:symbol val="circle"/>
            <c:size val="8"/>
            <c:spPr>
              <a:solidFill>
                <a:srgbClr val="13233A"/>
              </a:solidFill>
              <a:ln w="9525" cap="flat">
                <a:solidFill>
                  <a:srgbClr val="13233A"/>
                </a:solidFill>
                <a:prstDash val="solid"/>
                <a:round/>
              </a:ln>
              <a:effectLst/>
            </c:spPr>
          </c:marker>
          <c:cat>
            <c:multiLvlStrRef>
              <c:f>Sheet1!$A$2:$A$7</c:f>
              <c:multiLvlStrCache>
                <c:ptCount val="6"/>
                <c:lvl>
                  <c:pt idx="0">
                    <c:v>1 sa</c:v>
                  </c:pt>
                  <c:pt idx="1">
                    <c:v>2 sa</c:v>
                  </c:pt>
                  <c:pt idx="2">
                    <c:v>3 sa</c:v>
                  </c:pt>
                  <c:pt idx="3">
                    <c:v>4 sa</c:v>
                  </c:pt>
                  <c:pt idx="4">
                    <c:v>5 sa</c:v>
                  </c:pt>
                  <c:pt idx="5">
                    <c:v>6 sa</c:v>
                  </c:pt>
                </c:lvl>
              </c:multiLvlStrCache>
            </c:multiLvlStrRef>
          </c:cat>
          <c:val>
            <c:numRef>
              <c:f>Sheet1!$C$2:$C$7</c:f>
              <c:numCache>
                <c:formatCode>General</c:formatCode>
                <c:ptCount val="6"/>
                <c:pt idx="0">
                  <c:v>0.652</c:v>
                </c:pt>
                <c:pt idx="1">
                  <c:v>0.458</c:v>
                </c:pt>
                <c:pt idx="2">
                  <c:v>0.321</c:v>
                </c:pt>
                <c:pt idx="3">
                  <c:v>0.23</c:v>
                </c:pt>
                <c:pt idx="4">
                  <c:v>0.168</c:v>
                </c:pt>
                <c:pt idx="5">
                  <c:v>0.129</c:v>
                </c:pt>
              </c:numCache>
            </c:numRef>
          </c:val>
          <c:smooth val="0"/>
        </c:ser>
        <c:dLbls>
          <c:numFmt formatCode="0.00" sourceLinked="0"/>
          <c:txPr>
            <a:bodyPr/>
            <a:lstStyle/>
            <a:p>
              <a:pPr>
                <a:defRPr b="0" i="0" strike="noStrike" sz="1100" u="none">
                  <a:solidFill>
                    <a:srgbClr val="13233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E5A"/>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E1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F8C9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3233A"/>
                </a:solidFill>
                <a:latin typeface="+mj-lt"/>
              </a:defRPr>
            </a:pPr>
            <a:r>
              <a:rPr sz="1600" b="0" i="0" u="none" strike="noStrike">
                <a:solidFill>
                  <a:srgbClr val="13233A"/>
                </a:solidFill>
                <a:latin typeface="+mj-lt"/>
              </a:rPr>
              <a:t>Önceden işaretlenen sis başlangıçları (%) — LightGBM</a:t>
            </a:r>
          </a:p>
        </c:rich>
      </c:tx>
      <c:layout/>
      <c:overlay val="0"/>
    </c:title>
    <c:autoTitleDeleted val="0"/>
    <c:plotArea>
      <c:layout/>
      <c:barChart>
        <c:barDir val="col"/>
        <c:grouping val="clustered"/>
        <c:varyColors val="0"/>
        <c:ser>
          <c:idx val="0"/>
          <c:order val="0"/>
          <c:tx>
            <c:strRef>
              <c:f>Sheet1!$B$1</c:f>
              <c:strCache>
                <c:ptCount val="1"/>
                <c:pt idx="0">
                  <c:v>Uyarı (τ)</c:v>
                </c:pt>
              </c:strCache>
            </c:strRef>
          </c:tx>
          <c:spPr>
            <a:solidFill>
              <a:srgbClr val="1F77B4"/>
            </a:solidFill>
            <a:effectLst/>
          </c:spPr>
          <c:invertIfNegative val="0"/>
          <c:dLbls>
            <c:numFmt formatCode="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cat>
            <c:multiLvlStrRef>
              <c:f>Sheet1!$A$2:$A$4</c:f>
              <c:multiLvlStrCache>
                <c:ptCount val="3"/>
                <c:lvl>
                  <c:pt idx="0">
                    <c:v>1 sa</c:v>
                  </c:pt>
                  <c:pt idx="1">
                    <c:v>3 sa</c:v>
                  </c:pt>
                  <c:pt idx="2">
                    <c:v>6 sa</c:v>
                  </c:pt>
                </c:lvl>
              </c:multiLvlStrCache>
            </c:multiLvlStrRef>
          </c:cat>
          <c:val>
            <c:numRef>
              <c:f>Sheet1!$B$2:$B$4</c:f>
              <c:numCache>
                <c:formatCode>General</c:formatCode>
                <c:ptCount val="3"/>
                <c:pt idx="0">
                  <c:v>12.5</c:v>
                </c:pt>
                <c:pt idx="1">
                  <c:v>6.3</c:v>
                </c:pt>
                <c:pt idx="2">
                  <c:v>20.8</c:v>
                </c:pt>
              </c:numCache>
            </c:numRef>
          </c:val>
        </c:ser>
        <c:ser>
          <c:idx val="1"/>
          <c:order val="1"/>
          <c:tx>
            <c:strRef>
              <c:f>Sheet1!$C$1</c:f>
              <c:strCache>
                <c:ptCount val="1"/>
                <c:pt idx="0">
                  <c:v>İzleme (τ/2)</c:v>
                </c:pt>
              </c:strCache>
            </c:strRef>
          </c:tx>
          <c:spPr>
            <a:solidFill>
              <a:srgbClr val="F2C200"/>
            </a:solidFill>
            <a:effectLst/>
          </c:spPr>
          <c:invertIfNegative val="0"/>
          <c:dLbls>
            <c:numFmt formatCode="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cat>
            <c:multiLvlStrRef>
              <c:f>Sheet1!$A$2:$A$4</c:f>
              <c:multiLvlStrCache>
                <c:ptCount val="3"/>
                <c:lvl>
                  <c:pt idx="0">
                    <c:v>1 sa</c:v>
                  </c:pt>
                  <c:pt idx="1">
                    <c:v>3 sa</c:v>
                  </c:pt>
                  <c:pt idx="2">
                    <c:v>6 sa</c:v>
                  </c:pt>
                </c:lvl>
              </c:multiLvlStrCache>
            </c:multiLvlStrRef>
          </c:cat>
          <c:val>
            <c:numRef>
              <c:f>Sheet1!$C$2:$C$4</c:f>
              <c:numCache>
                <c:formatCode>General</c:formatCode>
                <c:ptCount val="3"/>
                <c:pt idx="0">
                  <c:v>25</c:v>
                </c:pt>
                <c:pt idx="1">
                  <c:v>20.8</c:v>
                </c:pt>
                <c:pt idx="2">
                  <c:v>37.5</c:v>
                </c:pt>
              </c:numCache>
            </c:numRef>
          </c:val>
        </c:ser>
        <c:ser>
          <c:idx val="2"/>
          <c:order val="2"/>
          <c:tx>
            <c:strRef>
              <c:f>Sheet1!$D$1</c:f>
              <c:strCache>
                <c:ptCount val="1"/>
                <c:pt idx="0">
                  <c:v>Kalıcılık</c:v>
                </c:pt>
              </c:strCache>
            </c:strRef>
          </c:tx>
          <c:spPr>
            <a:solidFill>
              <a:srgbClr val="13233A"/>
            </a:solidFill>
            <a:effectLst/>
          </c:spPr>
          <c:invertIfNegative val="0"/>
          <c:dLbls>
            <c:numFmt formatCode="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cat>
            <c:multiLvlStrRef>
              <c:f>Sheet1!$A$2:$A$4</c:f>
              <c:multiLvlStrCache>
                <c:ptCount val="3"/>
                <c:lvl>
                  <c:pt idx="0">
                    <c:v>1 sa</c:v>
                  </c:pt>
                  <c:pt idx="1">
                    <c:v>3 sa</c:v>
                  </c:pt>
                  <c:pt idx="2">
                    <c:v>6 sa</c:v>
                  </c:pt>
                </c:lvl>
              </c:multiLvlStrCache>
            </c:multiLvlStrRef>
          </c:cat>
          <c:val>
            <c:numRef>
              <c:f>Sheet1!$D$2:$D$4</c:f>
              <c:numCache>
                <c:formatCode>General</c:formatCode>
                <c:ptCount val="3"/>
                <c:pt idx="0">
                  <c:v>0</c:v>
                </c:pt>
                <c:pt idx="1">
                  <c:v>2.1</c:v>
                </c:pt>
                <c:pt idx="2">
                  <c:v>4.2</c:v>
                </c:pt>
              </c:numCache>
            </c:numRef>
          </c:val>
        </c:ser>
        <c:dLbls>
          <c:numFmt formatCode="0" sourceLinked="0"/>
          <c:txPr>
            <a:bodyPr/>
            <a:lstStyle/>
            <a:p>
              <a:pPr>
                <a:defRPr b="0" i="0" strike="noStrike" sz="1100" u="none">
                  <a:solidFill>
                    <a:srgbClr val="1323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E5A"/>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1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F8C9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 projede Ankara Esenboğa Havalimanı'nda sis ve düşük görüşü 1, 3 ve 6 saat önceden tahmin eden, kararlarını açıklayabilen ve canlı çalışan bir erken uyarı sistemi geliştirdim. Sunumda önce problemi, ardından veri ve yöntemi, sonra bulguları ve uygulamayı anlatacağım.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 Esenboğa'da gecikme, yönlendirme ve iptallerin başlıca nedeni. Kendi veri setimiz yayımlanmış klimatolojiyi doğruluyor: sislerin %94,6'i Ekim–Şubat'ta; 2011–2020'de 819,5 saat sis var, Koyuncu ve arkadaşlarının yaklaşık 800 saatlik değeriyle örtüşüyor; sis gözlemlerinin %55,5'inde RVR 350 metrenin altında, yani CAT III gerekiyor. Isı haritası sisin gün doğumu civarında yoğunlaştığını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Esenboğa üzerine yapılan çalışmalar klimatolojik ve sinoptik; Çamalan ve arkadaşları 2010'da tahmin modeli geliştirilmesini açıkça öneriyor. Literatür taramamızda Esenboğa için makine öğrenmesi tabanlı bir tahmin modeli bulunamadı. Uluslararası çalışmalarda ise resmî TAF/TREND ile aynı bilgi ufkunda karşılaştırma ve fiziksel açıklama nadir. Beş katkıyı sağdaki listede görüyorsunuz.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 Iowa Environmental Mesonet arşivinden geliyor. Önemli bir tespit: eski kayıtların bir kısmı gerçek METAR değil, NCEI veritabanından yeniden üretilmiş sentetik kayıtlar; bunlarda RVR ve TREND yok. Bu kayıtları çıkarıp boşlukları Ogimet'teki orijinal metinlerle doldurdum. Kendi yazdığım çözücü görüş, her pistin RVR'si, hadise, bulut, sıcaklık, nem ve TREND gruplarını çözüyor; kalite kontrolü aralık ve sıçrama denetimleri içeriyor.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arşivler, çözücü ve kalite kontrolü, 30 dakikalık ızgara ve 77 öznitelik, modeller ve kalibrasyon, doğrulama. Web uygulaması aynı kodu kullandığı için çevrimdışı ve canlı tahminler birebir aynı; bunu bir eşdeğerlik testiyle de kanıtladım.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hedef var: görüşün 1000 metrenin altına inmesi ve ILS kategorileri. ILS sınıfları Çamalan ve arkadaşlarının Esenboğa için kullandığı 550 ve 350 metrelik sınırlarla tanımlı. 77 öznitelik beş gruba ayrılıyor: anlık durum, hadise, eğilimler, sınır tabaka belleği ve Güneş/takvim. Geçerlilik zamanındaki Güneş yüksekliği önceden bilinen deterministik bir bilgi olduğu için meşru bir öznitelik.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Veriyi rastgele değil kronolojik ve sezonlarla hizalı böldüm; aksi hâlde aynı sis olayının ardışık örnekleri eğitim ve teste dağılırdı. Altı model ailesi: lojistik regresyon, rastgele orman, XGBoost, LightGBM ve çok görevli GRU/LSTM. Hiperparametreler Optuna ile doğrulama sezonlarında ayarlandı. SMOTE ve sınıf ağırlığı olasılıkları bozduğu için nihai modellerde yeniden örnekleme yapmadım; kalibrasyonu bir-sezon-dışarıda çapraz doğrulamayla seçtim.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bağımsız test sezonunda en iyi kritik başarı indeksi 1, 3 ve 6 saat için 0,73, 0,47 ve 0,34; kalıcılık ise 0,65, 0,32 ve 0,13. Göreli kazanç öngörü süresiyle büyüyor: yüzde 12, 45 ve 130. Gün-blok bootstrap ile eşleştirilmiş testlerde altı modelin tamamı her öngörü süresinde kalıcılıktan anlamlı biçimde iyi. İlginç bir bulgu: 1 saatte ağaç tabanlı LightGBM, 3–6 saatte yinelemeli ağlar en iyi.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METAR'a eklenen TREND, tahmincinin 2 saatlik resmî tahmini. Aynı test durumlarında TREND'in CSI değeri 0,62; kalıcılık 0,65; LightGBM ise 0,73. Fark 0,105 ve %95 güven aralığı 0,075 ile 0,140 arasında, yani anlamlı. Sağdaki grafik becerinin öngörü süresiyle düzgün azaldığını ve kalıcılıkla arasındaki farkın açıldığını gösteriyor. TAF için yalnızca son 30 günlük arşive erişebildim; o dönemde sis olmadığı için ne TAF ne de model yanlış alarm verdi.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Kalıcılık sis başlangıcını ve dağılmasını tanımı gereği hiç öngöremez; asıl operasyonel değer burada. Dağılmaları modeller iyi yakalıyor: 6 saatte GRU yüzde 86. Başlangıçlar ise zor; en yüksek CSI eşiğinde yalnızca yüzde 6 ile 21 arası yakalanıyor. Bunu dürüstçe raporladım ve uygulamaya kademeli bir uyarı ekledim: eşiğin yarısında 'izleme' seviyesi, başlangıçların 1, 3 ve 6 saat önceden yüzde 25, 21 ve 38'ini işaretliyor; CSI ise çok az düşüyor.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ILS kategorilerini sıralı bir problem olarak, iki ikili modelle tahmin ettim: RVR 550'nin altında mı ve 350'nin altında mı. Sıralı olasılık beceri skoru 1, 3 ve 6 saatte 0,64, 0,41 ve 0,28; kalıcılık ise 6 saatte -0,70. CAT III durumları yüzde 76 doğrulukla tanınıyor; en zor sınıf, dar bir geçiş bandı olan CAT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analizi en güçlü kanıt: 1 saatte tahmini anlık nem ve görüş belirliyor, katkının yüzde 78'i. 6 saatte bu pay yüzde 41'e iniyor; Güneş/takvim terimleri yüzde 28'e, sınır tabaka belleği yüzde 21'e çıkıyor. Bağımlılık grafikleri ders kitabı fiziği: çiy noktası farkı 2 derecenin altındaysa sis riski artıyor, rüzgâr 3 knotun üzerindeyse karışım sisi bastırıyor, Güneş yükseldiğinde sis dağılıyor.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döneminden iki aşamalı bir olay. Sis öğleden sonra açılıyor, 16:50 UTC'de yeniden oluşuyor. 16:20'de görüş henüz 1200 metreyken 3 saatlik model yüzde 82 olasılıkla doğru uyarı veriyor. Sağdaki SHAP açıklaması bu kararın nedenlerini gösteriyor: düşen minimum görüş, 650 metrelik RVR, 1 derecelik çiy noktası farkı ve yüzde 93 nem; yani deneyimli bir tahmincinin bakacağı ipuçları.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 her on dakikada son METAR'ları çekiyor, aynı işlem hattından geçiriyor ve 1–6 saat için olasılık, ILS görünümü, uyarı seviyesi ve SHAP açıklamaları gösteriyor. Her tahmin veritabanına kaydedilip geçerlilik saati gelince otomatik doğrulanıyor. Eşdeğerlik testinde 240 karşılaştırmada fark sıfır. Temmuz–Ekim 2026 yeniden oynatmasında sis yoktu ve sistem tek bir yanlış alarm vermedi; canlı kayıt dönem boyunca sürüyor.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Esenboğa için ilk makine öğrenmesi tabanlı sis tahmin sistemini geliştirdim; tüm modeller kalıcılığı ve resmî TREND tahminini anlamlı biçimde geçiyor, modeller sis fiziğiyle tutarlı ve sistem canlı çalışıyor. Gelecekte sayısal model ve uydu verisiyle başlangıç tespitini iyileştirmeyi, TAF karşılaştırmasını tam sezona genişletmeyi ve diğer havalimanlarına aktarmayı planlıyorum. Veri, kod ve uygulama GitHub'da açık. Teşekkürler;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640080" y="548640"/>
            <a:ext cx="960120" cy="420624"/>
          </a:xfrm>
          <a:prstGeom prst="rect">
            <a:avLst/>
          </a:prstGeom>
          <a:solidFill>
            <a:srgbClr val="000000"/>
          </a:solidFill>
          <a:ln w="19050">
            <a:solidFill>
              <a:srgbClr val="F2C200"/>
            </a:solidFill>
            <a:prstDash val="solid"/>
          </a:ln>
        </p:spPr>
      </p:sp>
      <p:sp>
        <p:nvSpPr>
          <p:cNvPr id="3" name="Text 1"/>
          <p:cNvSpPr/>
          <p:nvPr/>
        </p:nvSpPr>
        <p:spPr>
          <a:xfrm>
            <a:off x="640080" y="548640"/>
            <a:ext cx="960120" cy="420624"/>
          </a:xfrm>
          <a:prstGeom prst="rect">
            <a:avLst/>
          </a:prstGeom>
          <a:noFill/>
          <a:ln/>
        </p:spPr>
        <p:txBody>
          <a:bodyPr wrap="square" lIns="0" tIns="0" rIns="0" bIns="0" rtlCol="0" anchor="ctr"/>
          <a:lstStyle/>
          <a:p>
            <a:pPr algn="ctr" indent="0" marL="0">
              <a:buNone/>
            </a:pPr>
            <a:r>
              <a:rPr lang="en-US" sz="1800" b="1" dirty="0">
                <a:solidFill>
                  <a:srgbClr val="F2C200"/>
                </a:solidFill>
                <a:latin typeface="Calibri" pitchFamily="34" charset="0"/>
                <a:ea typeface="Calibri" pitchFamily="34" charset="-122"/>
                <a:cs typeface="Calibri" pitchFamily="34" charset="-120"/>
              </a:rPr>
              <a:t>LTAC</a:t>
            </a:r>
            <a:endParaRPr lang="en-US" sz="1800" dirty="0"/>
          </a:p>
        </p:txBody>
      </p:sp>
      <p:sp>
        <p:nvSpPr>
          <p:cNvPr id="4" name="Text 2"/>
          <p:cNvSpPr/>
          <p:nvPr>
            <p:ph idx="102" type="title" hasCustomPrompt="1"/>
          </p:nvPr>
        </p:nvSpPr>
        <p:spPr>
          <a:xfrm>
            <a:off x="640080" y="1417320"/>
            <a:ext cx="6309360" cy="24688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5" name="Text 2"/>
          <p:cNvSpPr/>
          <p:nvPr>
            <p:ph idx="103" type="body" hasCustomPrompt="1"/>
          </p:nvPr>
        </p:nvSpPr>
        <p:spPr>
          <a:xfrm>
            <a:off x="640080" y="4069080"/>
            <a:ext cx="6309360" cy="548640"/>
          </a:xfrm>
          <a:prstGeom prst="rect">
            <a:avLst/>
          </a:prstGeom>
          <a:noFill/>
          <a:ln/>
        </p:spPr>
        <p:txBody>
          <a:bodyPr wrap="square" rtlCol="0"/>
          <a:lstStyle>
            <a:lvl1pPr algn="l" indent="0" marL="0">
              <a:buNone/>
              <a:defRPr lang="en-US" sz="200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652760" y="384048"/>
            <a:ext cx="960120" cy="420624"/>
          </a:xfrm>
          <a:prstGeom prst="rect">
            <a:avLst/>
          </a:prstGeom>
          <a:solidFill>
            <a:srgbClr val="000000"/>
          </a:solidFill>
          <a:ln w="19050">
            <a:solidFill>
              <a:srgbClr val="F2C200"/>
            </a:solidFill>
            <a:prstDash val="solid"/>
          </a:ln>
        </p:spPr>
      </p:sp>
      <p:sp>
        <p:nvSpPr>
          <p:cNvPr id="3" name="Text 1"/>
          <p:cNvSpPr/>
          <p:nvPr/>
        </p:nvSpPr>
        <p:spPr>
          <a:xfrm>
            <a:off x="10652760" y="384048"/>
            <a:ext cx="960120" cy="420624"/>
          </a:xfrm>
          <a:prstGeom prst="rect">
            <a:avLst/>
          </a:prstGeom>
          <a:noFill/>
          <a:ln/>
        </p:spPr>
        <p:txBody>
          <a:bodyPr wrap="square" lIns="0" tIns="0" rIns="0" bIns="0" rtlCol="0" anchor="ctr"/>
          <a:lstStyle/>
          <a:p>
            <a:pPr algn="ctr" indent="0" marL="0">
              <a:buNone/>
            </a:pPr>
            <a:r>
              <a:rPr lang="en-US" sz="1800" b="1" dirty="0">
                <a:solidFill>
                  <a:srgbClr val="F2C200"/>
                </a:solidFill>
                <a:latin typeface="Calibri" pitchFamily="34" charset="0"/>
                <a:ea typeface="Calibri" pitchFamily="34" charset="-122"/>
                <a:cs typeface="Calibri" pitchFamily="34" charset="-120"/>
              </a:rPr>
              <a:t>LTAC</a:t>
            </a:r>
            <a:endParaRPr lang="en-US" sz="1800" dirty="0"/>
          </a:p>
        </p:txBody>
      </p:sp>
      <p:sp>
        <p:nvSpPr>
          <p:cNvPr id="4" name="Text 2"/>
          <p:cNvSpPr/>
          <p:nvPr>
            <p:ph idx="102" type="title" hasCustomPrompt="1"/>
          </p:nvPr>
        </p:nvSpPr>
        <p:spPr>
          <a:xfrm>
            <a:off x="548640" y="320040"/>
            <a:ext cx="9875520" cy="68580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5" name="Text 2"/>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7F8C9A"/>
                </a:solidFill>
              </a:rPr>
              <a:t>YMH453 Makine Öğrenmesi — Ankara Üniversitesi</a:t>
            </a:r>
            <a:endParaRPr lang="en-US" sz="10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10652760" y="384048"/>
            <a:ext cx="960120" cy="420624"/>
          </a:xfrm>
          <a:prstGeom prst="rect">
            <a:avLst/>
          </a:prstGeom>
          <a:solidFill>
            <a:srgbClr val="000000"/>
          </a:solidFill>
          <a:ln w="19050">
            <a:solidFill>
              <a:srgbClr val="F2C200"/>
            </a:solidFill>
            <a:prstDash val="solid"/>
          </a:ln>
        </p:spPr>
      </p:sp>
      <p:sp>
        <p:nvSpPr>
          <p:cNvPr id="3" name="Text 1"/>
          <p:cNvSpPr/>
          <p:nvPr/>
        </p:nvSpPr>
        <p:spPr>
          <a:xfrm>
            <a:off x="10652760" y="384048"/>
            <a:ext cx="960120" cy="420624"/>
          </a:xfrm>
          <a:prstGeom prst="rect">
            <a:avLst/>
          </a:prstGeom>
          <a:noFill/>
          <a:ln/>
        </p:spPr>
        <p:txBody>
          <a:bodyPr wrap="square" lIns="0" tIns="0" rIns="0" bIns="0" rtlCol="0" anchor="ctr"/>
          <a:lstStyle/>
          <a:p>
            <a:pPr algn="ctr" indent="0" marL="0">
              <a:buNone/>
            </a:pPr>
            <a:r>
              <a:rPr lang="en-US" sz="1800" b="1" dirty="0">
                <a:solidFill>
                  <a:srgbClr val="F2C200"/>
                </a:solidFill>
                <a:latin typeface="Calibri" pitchFamily="34" charset="0"/>
                <a:ea typeface="Calibri" pitchFamily="34" charset="-122"/>
                <a:cs typeface="Calibri" pitchFamily="34" charset="-120"/>
              </a:rPr>
              <a:t>LTAC</a:t>
            </a:r>
            <a:endParaRPr lang="en-US" sz="1800" dirty="0"/>
          </a:p>
        </p:txBody>
      </p:sp>
      <p:sp>
        <p:nvSpPr>
          <p:cNvPr id="4" name="Text 2"/>
          <p:cNvSpPr/>
          <p:nvPr>
            <p:ph idx="102" type="title" hasCustomPrompt="1"/>
          </p:nvPr>
        </p:nvSpPr>
        <p:spPr>
          <a:xfrm>
            <a:off x="548640" y="320040"/>
            <a:ext cx="9875520" cy="685800"/>
          </a:xfrm>
          <a:prstGeom prst="rect">
            <a:avLst/>
          </a:prstGeom>
          <a:noFill/>
          <a:ln/>
        </p:spPr>
        <p:txBody>
          <a:bodyPr wrap="square" rtlCol="0"/>
          <a:lstStyle>
            <a:lvl1pPr indent="0" marL="0">
              <a:buNone/>
              <a:defRPr lang="en-US" sz="3000" b="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AtaSakik/esenboga-fog-nowcasting" TargetMode="Externa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640080" y="1417320"/>
            <a:ext cx="6309360" cy="246888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Esenboğa'da Sis ve Düşük Görüşün Açıklanabilir Makine Öğrenmesiyle Kısa Vadeli Tahmini</a:t>
            </a:r>
            <a:endParaRPr lang="en-US" sz="3600" dirty="0"/>
          </a:p>
        </p:txBody>
      </p:sp>
      <p:sp>
        <p:nvSpPr>
          <p:cNvPr id="3" name="Text 2"/>
          <p:cNvSpPr/>
          <p:nvPr>
            <p:ph idx="103" type="body" hasCustomPrompt="1"/>
          </p:nvPr>
        </p:nvSpPr>
        <p:spPr>
          <a:xfrm>
            <a:off x="640080" y="4069080"/>
            <a:ext cx="6309360" cy="548640"/>
          </a:xfrm>
          <a:prstGeom prst="rect">
            <a:avLst/>
          </a:prstGeom>
          <a:noFill/>
          <a:ln/>
        </p:spPr>
        <p:txBody>
          <a:bodyPr wrap="square" lIns="0" tIns="0" rIns="0" bIns="0" rtlCol="0"/>
          <a:lstStyle/>
          <a:p>
            <a:pPr algn="l" indent="0" marL="0">
              <a:buNone/>
            </a:pPr>
            <a:r>
              <a:rPr lang="en-US" sz="2000" dirty="0">
                <a:solidFill>
                  <a:schemeClr val="accent1"/>
                </a:solidFill>
                <a:latin typeface="Calibri" pitchFamily="34" charset="0"/>
                <a:ea typeface="Calibri" pitchFamily="34" charset="-122"/>
                <a:cs typeface="Calibri" pitchFamily="34" charset="-120"/>
              </a:rPr>
              <a:t>Açıklanabilir bir erken uyarı sistemi</a:t>
            </a:r>
            <a:endParaRPr lang="en-US" sz="2000" dirty="0"/>
          </a:p>
        </p:txBody>
      </p:sp>
      <p:sp>
        <p:nvSpPr>
          <p:cNvPr id="4" name="Text 2"/>
          <p:cNvSpPr txBox="1"/>
          <p:nvPr/>
        </p:nvSpPr>
        <p:spPr>
          <a:xfrm>
            <a:off x="640080" y="5257800"/>
            <a:ext cx="6583680" cy="822960"/>
          </a:xfrm>
          <a:prstGeom prst="rect">
            <a:avLst/>
          </a:prstGeom>
          <a:noFill/>
          <a:ln/>
        </p:spPr>
        <p:txBody>
          <a:bodyPr wrap="square" lIns="0" tIns="0" rIns="0" bIns="0" rtlCol="0" anchor="ctr"/>
          <a:lstStyle/>
          <a:p>
            <a:pPr indent="0" marL="0">
              <a:buNone/>
            </a:pPr>
            <a:r>
              <a:rPr lang="en-US" sz="1400" dirty="0">
                <a:solidFill>
                  <a:srgbClr val="E6EBEF"/>
                </a:solidFill>
              </a:rPr>
              <a:t>Ata Sakik (25290085)</a:t>
            </a:r>
            <a:endParaRPr lang="en-US" sz="1400" dirty="0"/>
          </a:p>
          <a:p>
            <a:pPr indent="0" marL="0">
              <a:buNone/>
            </a:pPr>
            <a:r>
              <a:rPr lang="en-US" sz="1400" dirty="0">
                <a:solidFill>
                  <a:srgbClr val="E6EBEF"/>
                </a:solidFill>
              </a:rPr>
              <a:t>YMH453 Makine Öğrenmesi, Ankara Üniversitesi Yazılım Mühendisliği, 2026</a:t>
            </a:r>
            <a:endParaRPr lang="en-US" sz="1400" dirty="0"/>
          </a:p>
        </p:txBody>
      </p:sp>
      <p:sp>
        <p:nvSpPr>
          <p:cNvPr id="5" name="approach-light-0"/>
          <p:cNvSpPr/>
          <p:nvPr/>
        </p:nvSpPr>
        <p:spPr>
          <a:xfrm>
            <a:off x="685800" y="4709160"/>
            <a:ext cx="237744" cy="237744"/>
          </a:xfrm>
          <a:prstGeom prst="ellipse">
            <a:avLst/>
          </a:prstGeom>
          <a:solidFill>
            <a:srgbClr val="F2C200"/>
          </a:solidFill>
          <a:ln w="12700">
            <a:solidFill>
              <a:srgbClr val="F2C200"/>
            </a:solidFill>
            <a:prstDash val="solid"/>
          </a:ln>
        </p:spPr>
      </p:sp>
      <p:sp>
        <p:nvSpPr>
          <p:cNvPr id="6" name="approach-light-1"/>
          <p:cNvSpPr/>
          <p:nvPr/>
        </p:nvSpPr>
        <p:spPr>
          <a:xfrm>
            <a:off x="1143000" y="4709160"/>
            <a:ext cx="237744" cy="237744"/>
          </a:xfrm>
          <a:prstGeom prst="ellipse">
            <a:avLst/>
          </a:prstGeom>
          <a:solidFill>
            <a:srgbClr val="F2C200">
              <a:alpha val="82000"/>
            </a:srgbClr>
          </a:solidFill>
          <a:ln w="12700">
            <a:solidFill>
              <a:srgbClr val="F2C200">
                <a:alpha val="82000"/>
              </a:srgbClr>
            </a:solidFill>
            <a:prstDash val="solid"/>
          </a:ln>
        </p:spPr>
      </p:sp>
      <p:sp>
        <p:nvSpPr>
          <p:cNvPr id="7" name="approach-light-2"/>
          <p:cNvSpPr/>
          <p:nvPr/>
        </p:nvSpPr>
        <p:spPr>
          <a:xfrm>
            <a:off x="1600200" y="4709160"/>
            <a:ext cx="237744" cy="237744"/>
          </a:xfrm>
          <a:prstGeom prst="ellipse">
            <a:avLst/>
          </a:prstGeom>
          <a:solidFill>
            <a:srgbClr val="F2C200">
              <a:alpha val="64000"/>
            </a:srgbClr>
          </a:solidFill>
          <a:ln w="12700">
            <a:solidFill>
              <a:srgbClr val="F2C200">
                <a:alpha val="64000"/>
              </a:srgbClr>
            </a:solidFill>
            <a:prstDash val="solid"/>
          </a:ln>
        </p:spPr>
      </p:sp>
      <p:sp>
        <p:nvSpPr>
          <p:cNvPr id="8" name="approach-light-3"/>
          <p:cNvSpPr/>
          <p:nvPr/>
        </p:nvSpPr>
        <p:spPr>
          <a:xfrm>
            <a:off x="2057400" y="4709160"/>
            <a:ext cx="237744" cy="237744"/>
          </a:xfrm>
          <a:prstGeom prst="ellipse">
            <a:avLst/>
          </a:prstGeom>
          <a:solidFill>
            <a:srgbClr val="F2C200">
              <a:alpha val="46000"/>
            </a:srgbClr>
          </a:solidFill>
          <a:ln w="12700">
            <a:solidFill>
              <a:srgbClr val="F2C200">
                <a:alpha val="46000"/>
              </a:srgbClr>
            </a:solidFill>
            <a:prstDash val="solid"/>
          </a:ln>
        </p:spPr>
      </p:sp>
      <p:sp>
        <p:nvSpPr>
          <p:cNvPr id="9" name="approach-light-4"/>
          <p:cNvSpPr/>
          <p:nvPr/>
        </p:nvSpPr>
        <p:spPr>
          <a:xfrm>
            <a:off x="2514600" y="4709160"/>
            <a:ext cx="237744" cy="237744"/>
          </a:xfrm>
          <a:prstGeom prst="ellipse">
            <a:avLst/>
          </a:prstGeom>
          <a:solidFill>
            <a:srgbClr val="F2C200">
              <a:alpha val="28000"/>
            </a:srgbClr>
          </a:solidFill>
          <a:ln w="12700">
            <a:solidFill>
              <a:srgbClr val="F2C200">
                <a:alpha val="28000"/>
              </a:srgbClr>
            </a:solidFill>
            <a:prstDash val="solid"/>
          </a:ln>
        </p:spPr>
      </p:sp>
      <p:pic>
        <p:nvPicPr>
          <p:cNvPr id="10" name="app-preview" descr="C:\Users\Atasa\OneDrive\Masaüstü\Makine Öğrenmesi\Esenboğa Projesi\results\figures\tr\app_screenshot.png">    </p:cNvPr>
          <p:cNvPicPr>
            <a:picLocks noChangeAspect="1"/>
          </p:cNvPicPr>
          <p:nvPr/>
        </p:nvPicPr>
        <p:blipFill>
          <a:blip r:embed="rId1"/>
          <a:stretch>
            <a:fillRect/>
          </a:stretch>
        </p:blipFill>
        <p:spPr>
          <a:xfrm>
            <a:off x="7406640" y="914400"/>
            <a:ext cx="4206240" cy="4087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Sis Esenboğa'nın en önemli operasyonel riski</a:t>
            </a:r>
            <a:endParaRPr lang="en-US" sz="3000" dirty="0"/>
          </a:p>
        </p:txBody>
      </p:sp>
      <p:sp>
        <p:nvSpPr>
          <p:cNvPr id="4" name="stat-sislerin Eki"/>
          <p:cNvSpPr txBox="1"/>
          <p:nvPr/>
        </p:nvSpPr>
        <p:spPr>
          <a:xfrm>
            <a:off x="548640" y="1234440"/>
            <a:ext cx="3291840" cy="7772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%94,6</a:t>
            </a:r>
            <a:endParaRPr lang="en-US" sz="4000" dirty="0"/>
          </a:p>
        </p:txBody>
      </p:sp>
      <p:sp>
        <p:nvSpPr>
          <p:cNvPr id="5" name="Text 2"/>
          <p:cNvSpPr txBox="1"/>
          <p:nvPr/>
        </p:nvSpPr>
        <p:spPr>
          <a:xfrm>
            <a:off x="548640" y="2011680"/>
            <a:ext cx="3291840" cy="548640"/>
          </a:xfrm>
          <a:prstGeom prst="rect">
            <a:avLst/>
          </a:prstGeom>
          <a:noFill/>
          <a:ln/>
        </p:spPr>
        <p:txBody>
          <a:bodyPr wrap="square" lIns="0" tIns="0" rIns="0" bIns="0" rtlCol="0" anchor="t"/>
          <a:lstStyle/>
          <a:p>
            <a:pPr indent="0" marL="0">
              <a:buNone/>
            </a:pPr>
            <a:r>
              <a:rPr lang="en-US" sz="1400" dirty="0">
                <a:solidFill>
                  <a:schemeClr val="tx2"/>
                </a:solidFill>
              </a:rPr>
              <a:t>sislerin Ekim–Şubat'ta görülme payı</a:t>
            </a:r>
            <a:endParaRPr lang="en-US" sz="1400" dirty="0"/>
          </a:p>
        </p:txBody>
      </p:sp>
      <p:sp>
        <p:nvSpPr>
          <p:cNvPr id="6" name="stat-2011–2020 si"/>
          <p:cNvSpPr txBox="1"/>
          <p:nvPr/>
        </p:nvSpPr>
        <p:spPr>
          <a:xfrm>
            <a:off x="4343400" y="1234440"/>
            <a:ext cx="3291840" cy="7772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819,5 sa</a:t>
            </a:r>
            <a:endParaRPr lang="en-US" sz="4000" dirty="0"/>
          </a:p>
        </p:txBody>
      </p:sp>
      <p:sp>
        <p:nvSpPr>
          <p:cNvPr id="7" name="Text 4"/>
          <p:cNvSpPr txBox="1"/>
          <p:nvPr/>
        </p:nvSpPr>
        <p:spPr>
          <a:xfrm>
            <a:off x="4343400" y="2011680"/>
            <a:ext cx="3291840" cy="548640"/>
          </a:xfrm>
          <a:prstGeom prst="rect">
            <a:avLst/>
          </a:prstGeom>
          <a:noFill/>
          <a:ln/>
        </p:spPr>
        <p:txBody>
          <a:bodyPr wrap="square" lIns="0" tIns="0" rIns="0" bIns="0" rtlCol="0" anchor="t"/>
          <a:lstStyle/>
          <a:p>
            <a:pPr indent="0" marL="0">
              <a:buNone/>
            </a:pPr>
            <a:r>
              <a:rPr lang="en-US" sz="1400" dirty="0">
                <a:solidFill>
                  <a:schemeClr val="tx2"/>
                </a:solidFill>
              </a:rPr>
              <a:t>2011–2020 sis süresi (literatür ≈800 sa)</a:t>
            </a:r>
            <a:endParaRPr lang="en-US" sz="1400" dirty="0"/>
          </a:p>
        </p:txBody>
      </p:sp>
      <p:sp>
        <p:nvSpPr>
          <p:cNvPr id="8" name="stat-sis gözlemle"/>
          <p:cNvSpPr txBox="1"/>
          <p:nvPr/>
        </p:nvSpPr>
        <p:spPr>
          <a:xfrm>
            <a:off x="8138160" y="1234440"/>
            <a:ext cx="347472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%55,5</a:t>
            </a:r>
            <a:endParaRPr lang="en-US" sz="4000" dirty="0"/>
          </a:p>
        </p:txBody>
      </p:sp>
      <p:sp>
        <p:nvSpPr>
          <p:cNvPr id="9" name="Text 6"/>
          <p:cNvSpPr txBox="1"/>
          <p:nvPr/>
        </p:nvSpPr>
        <p:spPr>
          <a:xfrm>
            <a:off x="8138160" y="2011680"/>
            <a:ext cx="3474720" cy="548640"/>
          </a:xfrm>
          <a:prstGeom prst="rect">
            <a:avLst/>
          </a:prstGeom>
          <a:noFill/>
          <a:ln/>
        </p:spPr>
        <p:txBody>
          <a:bodyPr wrap="square" lIns="0" tIns="0" rIns="0" bIns="0" rtlCol="0" anchor="t"/>
          <a:lstStyle/>
          <a:p>
            <a:pPr indent="0" marL="0">
              <a:buNone/>
            </a:pPr>
            <a:r>
              <a:rPr lang="en-US" sz="1400" dirty="0">
                <a:solidFill>
                  <a:schemeClr val="tx2"/>
                </a:solidFill>
              </a:rPr>
              <a:t>sis gözlemlerinde RVR ≤ 350 m (CAT III)</a:t>
            </a:r>
            <a:endParaRPr lang="en-US" sz="1400" dirty="0"/>
          </a:p>
        </p:txBody>
      </p:sp>
      <p:pic>
        <p:nvPicPr>
          <p:cNvPr id="10" name="Image 0" descr="C:\Users\Atasa\OneDrive\Masaüstü\Makine Öğrenmesi\Esenboğa Projesi\results\figures\tr\climatology.png">    </p:cNvPr>
          <p:cNvPicPr>
            <a:picLocks noChangeAspect="1"/>
          </p:cNvPicPr>
          <p:nvPr/>
        </p:nvPicPr>
        <p:blipFill>
          <a:blip r:embed="rId1"/>
          <a:stretch>
            <a:fillRect/>
          </a:stretch>
        </p:blipFill>
        <p:spPr>
          <a:xfrm>
            <a:off x="548640" y="2971800"/>
            <a:ext cx="11064240" cy="310896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Boşluk ve katkılar</a:t>
            </a:r>
            <a:endParaRPr lang="en-US" sz="3000" dirty="0"/>
          </a:p>
        </p:txBody>
      </p:sp>
      <p:sp>
        <p:nvSpPr>
          <p:cNvPr id="4" name="Shape 1"/>
          <p:cNvSpPr/>
          <p:nvPr/>
        </p:nvSpPr>
        <p:spPr>
          <a:xfrm>
            <a:off x="548640" y="1280160"/>
            <a:ext cx="4206240" cy="4754880"/>
          </a:xfrm>
          <a:prstGeom prst="roundRect">
            <a:avLst>
              <a:gd name="adj" fmla="val 1739"/>
            </a:avLst>
          </a:prstGeom>
          <a:solidFill>
            <a:srgbClr val="E6EBEF"/>
          </a:solidFill>
          <a:ln w="12700">
            <a:solidFill>
              <a:srgbClr val="E6EBEF"/>
            </a:solidFill>
            <a:prstDash val="solid"/>
          </a:ln>
        </p:spPr>
      </p:sp>
      <p:sp>
        <p:nvSpPr>
          <p:cNvPr id="5" name="Text 2"/>
          <p:cNvSpPr txBox="1"/>
          <p:nvPr/>
        </p:nvSpPr>
        <p:spPr>
          <a:xfrm>
            <a:off x="777240" y="1463040"/>
            <a:ext cx="3749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Mevcut durum</a:t>
            </a:r>
            <a:endParaRPr lang="en-US" sz="2000" dirty="0"/>
          </a:p>
        </p:txBody>
      </p:sp>
      <p:sp>
        <p:nvSpPr>
          <p:cNvPr id="6" name="Text 3"/>
          <p:cNvSpPr txBox="1"/>
          <p:nvPr/>
        </p:nvSpPr>
        <p:spPr>
          <a:xfrm>
            <a:off x="777240" y="2011680"/>
            <a:ext cx="3794760" cy="384048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Esenboğa: klimatolojik ve sinoptik analizler (2010, 2022)</a:t>
            </a:r>
            <a:endParaRPr lang="en-US" sz="1600" dirty="0"/>
          </a:p>
          <a:p>
            <a:pPr marL="342900" indent="-342900">
              <a:spcAft>
                <a:spcPts val="800"/>
              </a:spcAft>
              <a:buSzPct val="100000"/>
              <a:buChar char="•"/>
            </a:pPr>
            <a:r>
              <a:rPr lang="en-US" sz="1600" dirty="0">
                <a:solidFill>
                  <a:schemeClr val="tx1"/>
                </a:solidFill>
              </a:rPr>
              <a:t>Makine öğrenmesi tabanlı tahmin modeli yok</a:t>
            </a:r>
            <a:endParaRPr lang="en-US" sz="1600" dirty="0"/>
          </a:p>
          <a:p>
            <a:pPr marL="342900" indent="-342900">
              <a:spcAft>
                <a:spcPts val="800"/>
              </a:spcAft>
              <a:buSzPct val="100000"/>
              <a:buChar char="•"/>
            </a:pPr>
            <a:r>
              <a:rPr lang="en-US" sz="1600" dirty="0">
                <a:solidFill>
                  <a:schemeClr val="tx1"/>
                </a:solidFill>
              </a:rPr>
              <a:t>Resmî TAF/TREND ile adil karşılaştırma nadir</a:t>
            </a:r>
            <a:endParaRPr lang="en-US" sz="1600" dirty="0"/>
          </a:p>
          <a:p>
            <a:pPr marL="342900" indent="-342900">
              <a:spcAft>
                <a:spcPts val="800"/>
              </a:spcAft>
              <a:buSzPct val="100000"/>
              <a:buChar char="•"/>
            </a:pPr>
            <a:r>
              <a:rPr lang="en-US" sz="1600" dirty="0">
                <a:solidFill>
                  <a:schemeClr val="tx1"/>
                </a:solidFill>
              </a:rPr>
              <a:t>Modellerin öğrendiği fizik çoğu zaman açıklanmıyor</a:t>
            </a:r>
            <a:endParaRPr lang="en-US" sz="1600" dirty="0"/>
          </a:p>
        </p:txBody>
      </p:sp>
      <p:sp>
        <p:nvSpPr>
          <p:cNvPr id="7" name="Shape 4"/>
          <p:cNvSpPr/>
          <p:nvPr/>
        </p:nvSpPr>
        <p:spPr>
          <a:xfrm>
            <a:off x="5166360" y="1399032"/>
            <a:ext cx="502920" cy="502920"/>
          </a:xfrm>
          <a:prstGeom prst="ellipse">
            <a:avLst/>
          </a:prstGeom>
          <a:solidFill>
            <a:srgbClr val="F2C200"/>
          </a:solidFill>
          <a:ln w="12700">
            <a:solidFill>
              <a:srgbClr val="F2C200"/>
            </a:solidFill>
            <a:prstDash val="solid"/>
          </a:ln>
        </p:spPr>
      </p:sp>
      <p:sp>
        <p:nvSpPr>
          <p:cNvPr id="8" name="Text 5"/>
          <p:cNvSpPr txBox="1"/>
          <p:nvPr/>
        </p:nvSpPr>
        <p:spPr>
          <a:xfrm>
            <a:off x="5166360" y="139903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Text 6"/>
          <p:cNvSpPr txBox="1"/>
          <p:nvPr/>
        </p:nvSpPr>
        <p:spPr>
          <a:xfrm>
            <a:off x="5852160" y="1325880"/>
            <a:ext cx="5760720" cy="777240"/>
          </a:xfrm>
          <a:prstGeom prst="rect">
            <a:avLst/>
          </a:prstGeom>
          <a:noFill/>
          <a:ln/>
        </p:spPr>
        <p:txBody>
          <a:bodyPr wrap="square" lIns="0" tIns="0" rIns="0" bIns="0" rtlCol="0" anchor="ctr"/>
          <a:lstStyle/>
          <a:p>
            <a:pPr indent="0" marL="0">
              <a:buNone/>
            </a:pPr>
            <a:r>
              <a:rPr lang="en-US" sz="1700" b="1" dirty="0">
                <a:solidFill>
                  <a:schemeClr val="tx1"/>
                </a:solidFill>
              </a:rPr>
              <a:t>21,8 yıllık açık veri seti</a:t>
            </a:r>
            <a:endParaRPr lang="en-US" sz="1700" dirty="0"/>
          </a:p>
          <a:p>
            <a:pPr indent="0" marL="0">
              <a:buNone/>
            </a:pPr>
            <a:r>
              <a:rPr lang="en-US" sz="1400" dirty="0">
                <a:solidFill>
                  <a:srgbClr val="2B3E5A"/>
                </a:solidFill>
              </a:rPr>
              <a:t>kalite kontrollü METAR/SPECI, klimatolojiyi yeniden üretiyor</a:t>
            </a:r>
            <a:endParaRPr lang="en-US" sz="1700" dirty="0"/>
          </a:p>
        </p:txBody>
      </p:sp>
      <p:sp>
        <p:nvSpPr>
          <p:cNvPr id="10" name="Shape 7"/>
          <p:cNvSpPr/>
          <p:nvPr/>
        </p:nvSpPr>
        <p:spPr>
          <a:xfrm>
            <a:off x="5166360" y="2350008"/>
            <a:ext cx="502920" cy="502920"/>
          </a:xfrm>
          <a:prstGeom prst="ellipse">
            <a:avLst/>
          </a:prstGeom>
          <a:solidFill>
            <a:srgbClr val="F2C200"/>
          </a:solidFill>
          <a:ln w="12700">
            <a:solidFill>
              <a:srgbClr val="F2C200"/>
            </a:solidFill>
            <a:prstDash val="solid"/>
          </a:ln>
        </p:spPr>
      </p:sp>
      <p:sp>
        <p:nvSpPr>
          <p:cNvPr id="11" name="Text 8"/>
          <p:cNvSpPr txBox="1"/>
          <p:nvPr/>
        </p:nvSpPr>
        <p:spPr>
          <a:xfrm>
            <a:off x="5166360" y="235000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9"/>
          <p:cNvSpPr txBox="1"/>
          <p:nvPr/>
        </p:nvSpPr>
        <p:spPr>
          <a:xfrm>
            <a:off x="5852160" y="2276856"/>
            <a:ext cx="5760720" cy="777240"/>
          </a:xfrm>
          <a:prstGeom prst="rect">
            <a:avLst/>
          </a:prstGeom>
          <a:noFill/>
          <a:ln/>
        </p:spPr>
        <p:txBody>
          <a:bodyPr wrap="square" lIns="0" tIns="0" rIns="0" bIns="0" rtlCol="0" anchor="ctr"/>
          <a:lstStyle/>
          <a:p>
            <a:pPr indent="0" marL="0">
              <a:buNone/>
            </a:pPr>
            <a:r>
              <a:rPr lang="en-US" sz="1700" b="1" dirty="0">
                <a:solidFill>
                  <a:schemeClr val="tx1"/>
                </a:solidFill>
              </a:rPr>
              <a:t>6 model ailesinin karşılaştırması</a:t>
            </a:r>
            <a:endParaRPr lang="en-US" sz="1700" dirty="0"/>
          </a:p>
          <a:p>
            <a:pPr indent="0" marL="0">
              <a:buNone/>
            </a:pPr>
            <a:r>
              <a:rPr lang="en-US" sz="1400" dirty="0">
                <a:solidFill>
                  <a:srgbClr val="2B3E5A"/>
                </a:solidFill>
              </a:rPr>
              <a:t>kalibrasyon, dengesizlik deneyi, bootstrap anlamlılık testleri</a:t>
            </a:r>
            <a:endParaRPr lang="en-US" sz="1700" dirty="0"/>
          </a:p>
        </p:txBody>
      </p:sp>
      <p:sp>
        <p:nvSpPr>
          <p:cNvPr id="13" name="Shape 10"/>
          <p:cNvSpPr/>
          <p:nvPr/>
        </p:nvSpPr>
        <p:spPr>
          <a:xfrm>
            <a:off x="5166360" y="3300984"/>
            <a:ext cx="502920" cy="502920"/>
          </a:xfrm>
          <a:prstGeom prst="ellipse">
            <a:avLst/>
          </a:prstGeom>
          <a:solidFill>
            <a:srgbClr val="F2C200"/>
          </a:solidFill>
          <a:ln w="12700">
            <a:solidFill>
              <a:srgbClr val="F2C200"/>
            </a:solidFill>
            <a:prstDash val="solid"/>
          </a:ln>
        </p:spPr>
      </p:sp>
      <p:sp>
        <p:nvSpPr>
          <p:cNvPr id="14" name="Text 11"/>
          <p:cNvSpPr txBox="1"/>
          <p:nvPr/>
        </p:nvSpPr>
        <p:spPr>
          <a:xfrm>
            <a:off x="5166360" y="3300984"/>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2"/>
          <p:cNvSpPr txBox="1"/>
          <p:nvPr/>
        </p:nvSpPr>
        <p:spPr>
          <a:xfrm>
            <a:off x="5852160" y="3227832"/>
            <a:ext cx="5760720" cy="777240"/>
          </a:xfrm>
          <a:prstGeom prst="rect">
            <a:avLst/>
          </a:prstGeom>
          <a:noFill/>
          <a:ln/>
        </p:spPr>
        <p:txBody>
          <a:bodyPr wrap="square" lIns="0" tIns="0" rIns="0" bIns="0" rtlCol="0" anchor="ctr"/>
          <a:lstStyle/>
          <a:p>
            <a:pPr indent="0" marL="0">
              <a:buNone/>
            </a:pPr>
            <a:r>
              <a:rPr lang="en-US" sz="1700" b="1" dirty="0">
                <a:solidFill>
                  <a:schemeClr val="tx1"/>
                </a:solidFill>
              </a:rPr>
              <a:t>ILS/RVR kategorisi tahmini</a:t>
            </a:r>
            <a:endParaRPr lang="en-US" sz="1700" dirty="0"/>
          </a:p>
          <a:p>
            <a:pPr indent="0" marL="0">
              <a:buNone/>
            </a:pPr>
            <a:r>
              <a:rPr lang="en-US" sz="1400" dirty="0">
                <a:solidFill>
                  <a:srgbClr val="2B3E5A"/>
                </a:solidFill>
              </a:rPr>
              <a:t>sıralı (ordinal) formülasyon, başlangıç/dağılma analizi</a:t>
            </a:r>
            <a:endParaRPr lang="en-US" sz="1700" dirty="0"/>
          </a:p>
        </p:txBody>
      </p:sp>
      <p:sp>
        <p:nvSpPr>
          <p:cNvPr id="16" name="Shape 13"/>
          <p:cNvSpPr/>
          <p:nvPr/>
        </p:nvSpPr>
        <p:spPr>
          <a:xfrm>
            <a:off x="5166360" y="4251960"/>
            <a:ext cx="502920" cy="502920"/>
          </a:xfrm>
          <a:prstGeom prst="ellipse">
            <a:avLst/>
          </a:prstGeom>
          <a:solidFill>
            <a:srgbClr val="F2C200"/>
          </a:solidFill>
          <a:ln w="12700">
            <a:solidFill>
              <a:srgbClr val="F2C200"/>
            </a:solidFill>
            <a:prstDash val="solid"/>
          </a:ln>
        </p:spPr>
      </p:sp>
      <p:sp>
        <p:nvSpPr>
          <p:cNvPr id="17" name="Text 14"/>
          <p:cNvSpPr txBox="1"/>
          <p:nvPr/>
        </p:nvSpPr>
        <p:spPr>
          <a:xfrm>
            <a:off x="5166360" y="42519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Text 15"/>
          <p:cNvSpPr txBox="1"/>
          <p:nvPr/>
        </p:nvSpPr>
        <p:spPr>
          <a:xfrm>
            <a:off x="5852160" y="4178808"/>
            <a:ext cx="5760720" cy="777240"/>
          </a:xfrm>
          <a:prstGeom prst="rect">
            <a:avLst/>
          </a:prstGeom>
          <a:noFill/>
          <a:ln/>
        </p:spPr>
        <p:txBody>
          <a:bodyPr wrap="square" lIns="0" tIns="0" rIns="0" bIns="0" rtlCol="0" anchor="ctr"/>
          <a:lstStyle/>
          <a:p>
            <a:pPr indent="0" marL="0">
              <a:buNone/>
            </a:pPr>
            <a:r>
              <a:rPr lang="en-US" sz="1700" b="1" dirty="0">
                <a:solidFill>
                  <a:schemeClr val="tx1"/>
                </a:solidFill>
              </a:rPr>
              <a:t>SHAP ile açıklanabilirlik</a:t>
            </a:r>
            <a:endParaRPr lang="en-US" sz="1700" dirty="0"/>
          </a:p>
          <a:p>
            <a:pPr indent="0" marL="0">
              <a:buNone/>
            </a:pPr>
            <a:r>
              <a:rPr lang="en-US" sz="1400" dirty="0">
                <a:solidFill>
                  <a:srgbClr val="2B3E5A"/>
                </a:solidFill>
              </a:rPr>
              <a:t>öğrenilen ilişkiler sis fiziğiyle tutarlı</a:t>
            </a:r>
            <a:endParaRPr lang="en-US" sz="1700" dirty="0"/>
          </a:p>
        </p:txBody>
      </p:sp>
      <p:sp>
        <p:nvSpPr>
          <p:cNvPr id="19" name="Shape 16"/>
          <p:cNvSpPr/>
          <p:nvPr/>
        </p:nvSpPr>
        <p:spPr>
          <a:xfrm>
            <a:off x="5166360" y="5202936"/>
            <a:ext cx="502920" cy="502920"/>
          </a:xfrm>
          <a:prstGeom prst="ellipse">
            <a:avLst/>
          </a:prstGeom>
          <a:solidFill>
            <a:srgbClr val="F2C200"/>
          </a:solidFill>
          <a:ln w="12700">
            <a:solidFill>
              <a:srgbClr val="F2C200"/>
            </a:solidFill>
            <a:prstDash val="solid"/>
          </a:ln>
        </p:spPr>
      </p:sp>
      <p:sp>
        <p:nvSpPr>
          <p:cNvPr id="20" name="Text 17"/>
          <p:cNvSpPr txBox="1"/>
          <p:nvPr/>
        </p:nvSpPr>
        <p:spPr>
          <a:xfrm>
            <a:off x="5166360" y="5202936"/>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1" name="Text 18"/>
          <p:cNvSpPr txBox="1"/>
          <p:nvPr/>
        </p:nvSpPr>
        <p:spPr>
          <a:xfrm>
            <a:off x="5852160" y="5129784"/>
            <a:ext cx="5760720" cy="777240"/>
          </a:xfrm>
          <a:prstGeom prst="rect">
            <a:avLst/>
          </a:prstGeom>
          <a:noFill/>
          <a:ln/>
        </p:spPr>
        <p:txBody>
          <a:bodyPr wrap="square" lIns="0" tIns="0" rIns="0" bIns="0" rtlCol="0" anchor="ctr"/>
          <a:lstStyle/>
          <a:p>
            <a:pPr indent="0" marL="0">
              <a:buNone/>
            </a:pPr>
            <a:r>
              <a:rPr lang="en-US" sz="1700" b="1" dirty="0">
                <a:solidFill>
                  <a:schemeClr val="tx1"/>
                </a:solidFill>
              </a:rPr>
              <a:t>Canlı erken uyarı uygulaması</a:t>
            </a:r>
            <a:endParaRPr lang="en-US" sz="1700" dirty="0"/>
          </a:p>
          <a:p>
            <a:pPr indent="0" marL="0">
              <a:buNone/>
            </a:pPr>
            <a:r>
              <a:rPr lang="en-US" sz="1400" dirty="0">
                <a:solidFill>
                  <a:srgbClr val="2B3E5A"/>
                </a:solidFill>
              </a:rPr>
              <a:t>aynı işlem hattı, kademeli uyarı, gerçek zamanlı doğrulama</a:t>
            </a:r>
            <a:endParaRPr lang="en-US" sz="17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Veri: 21,8 yıllık METAR/SPECI arşivi</a:t>
            </a:r>
            <a:endParaRPr lang="en-US" sz="3000" dirty="0"/>
          </a:p>
        </p:txBody>
      </p:sp>
      <p:sp>
        <p:nvSpPr>
          <p:cNvPr id="4" name="Shape 1"/>
          <p:cNvSpPr/>
          <p:nvPr/>
        </p:nvSpPr>
        <p:spPr>
          <a:xfrm>
            <a:off x="548640" y="1325880"/>
            <a:ext cx="3520440" cy="1463040"/>
          </a:xfrm>
          <a:prstGeom prst="roundRect">
            <a:avLst>
              <a:gd name="adj" fmla="val 5000"/>
            </a:avLst>
          </a:prstGeom>
          <a:solidFill>
            <a:srgbClr val="E6EBEF"/>
          </a:solidFill>
          <a:ln w="12700">
            <a:solidFill>
              <a:srgbClr val="E6EBEF"/>
            </a:solidFill>
            <a:prstDash val="solid"/>
          </a:ln>
        </p:spPr>
      </p:sp>
      <p:sp>
        <p:nvSpPr>
          <p:cNvPr id="5" name="stat-METAR/SPECI "/>
          <p:cNvSpPr txBox="1"/>
          <p:nvPr/>
        </p:nvSpPr>
        <p:spPr>
          <a:xfrm>
            <a:off x="777240" y="143560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385 018</a:t>
            </a:r>
            <a:endParaRPr lang="en-US" sz="3400" dirty="0"/>
          </a:p>
        </p:txBody>
      </p:sp>
      <p:sp>
        <p:nvSpPr>
          <p:cNvPr id="6" name="Text 3"/>
          <p:cNvSpPr txBox="1"/>
          <p:nvPr/>
        </p:nvSpPr>
        <p:spPr>
          <a:xfrm>
            <a:off x="777240" y="2212848"/>
            <a:ext cx="3108960" cy="502920"/>
          </a:xfrm>
          <a:prstGeom prst="rect">
            <a:avLst/>
          </a:prstGeom>
          <a:noFill/>
          <a:ln/>
        </p:spPr>
        <p:txBody>
          <a:bodyPr wrap="square" lIns="0" tIns="0" rIns="0" bIns="0" rtlCol="0" anchor="t"/>
          <a:lstStyle/>
          <a:p>
            <a:pPr indent="0" marL="0">
              <a:buNone/>
            </a:pPr>
            <a:r>
              <a:rPr lang="en-US" sz="1400" dirty="0">
                <a:solidFill>
                  <a:schemeClr val="tx2"/>
                </a:solidFill>
              </a:rPr>
              <a:t>METAR/SPECI rasatı (KK sonrası)</a:t>
            </a:r>
            <a:endParaRPr lang="en-US" sz="1400" dirty="0"/>
          </a:p>
        </p:txBody>
      </p:sp>
      <p:sp>
        <p:nvSpPr>
          <p:cNvPr id="7" name="Shape 4"/>
          <p:cNvSpPr/>
          <p:nvPr/>
        </p:nvSpPr>
        <p:spPr>
          <a:xfrm>
            <a:off x="4343400" y="1325880"/>
            <a:ext cx="3520440" cy="1463040"/>
          </a:xfrm>
          <a:prstGeom prst="roundRect">
            <a:avLst>
              <a:gd name="adj" fmla="val 5000"/>
            </a:avLst>
          </a:prstGeom>
          <a:solidFill>
            <a:srgbClr val="E6EBEF"/>
          </a:solidFill>
          <a:ln w="12700">
            <a:solidFill>
              <a:srgbClr val="E6EBEF"/>
            </a:solidFill>
            <a:prstDash val="solid"/>
          </a:ln>
        </p:spPr>
      </p:sp>
      <p:sp>
        <p:nvSpPr>
          <p:cNvPr id="8" name="stat-30 dk ızgara"/>
          <p:cNvSpPr txBox="1"/>
          <p:nvPr/>
        </p:nvSpPr>
        <p:spPr>
          <a:xfrm>
            <a:off x="4572000" y="143560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%99,7</a:t>
            </a:r>
            <a:endParaRPr lang="en-US" sz="3400" dirty="0"/>
          </a:p>
        </p:txBody>
      </p:sp>
      <p:sp>
        <p:nvSpPr>
          <p:cNvPr id="9" name="Text 6"/>
          <p:cNvSpPr txBox="1"/>
          <p:nvPr/>
        </p:nvSpPr>
        <p:spPr>
          <a:xfrm>
            <a:off x="4572000" y="2212848"/>
            <a:ext cx="3108960" cy="502920"/>
          </a:xfrm>
          <a:prstGeom prst="rect">
            <a:avLst/>
          </a:prstGeom>
          <a:noFill/>
          <a:ln/>
        </p:spPr>
        <p:txBody>
          <a:bodyPr wrap="square" lIns="0" tIns="0" rIns="0" bIns="0" rtlCol="0" anchor="t"/>
          <a:lstStyle/>
          <a:p>
            <a:pPr indent="0" marL="0">
              <a:buNone/>
            </a:pPr>
            <a:r>
              <a:rPr lang="en-US" sz="1400" dirty="0">
                <a:solidFill>
                  <a:schemeClr val="tx2"/>
                </a:solidFill>
              </a:rPr>
              <a:t>30 dk ızgarada gözlem kapsaması</a:t>
            </a:r>
            <a:endParaRPr lang="en-US" sz="1400" dirty="0"/>
          </a:p>
        </p:txBody>
      </p:sp>
      <p:sp>
        <p:nvSpPr>
          <p:cNvPr id="10" name="Shape 7"/>
          <p:cNvSpPr/>
          <p:nvPr/>
        </p:nvSpPr>
        <p:spPr>
          <a:xfrm>
            <a:off x="8138160" y="1325880"/>
            <a:ext cx="3520440" cy="1463040"/>
          </a:xfrm>
          <a:prstGeom prst="roundRect">
            <a:avLst>
              <a:gd name="adj" fmla="val 5000"/>
            </a:avLst>
          </a:prstGeom>
          <a:solidFill>
            <a:srgbClr val="E6EBEF"/>
          </a:solidFill>
          <a:ln w="12700">
            <a:solidFill>
              <a:srgbClr val="E6EBEF"/>
            </a:solidFill>
            <a:prstDash val="solid"/>
          </a:ln>
        </p:spPr>
      </p:sp>
      <p:sp>
        <p:nvSpPr>
          <p:cNvPr id="11" name="stat-sis olayı; m"/>
          <p:cNvSpPr txBox="1"/>
          <p:nvPr/>
        </p:nvSpPr>
        <p:spPr>
          <a:xfrm>
            <a:off x="8366760" y="143560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537</a:t>
            </a:r>
            <a:endParaRPr lang="en-US" sz="3400" dirty="0"/>
          </a:p>
        </p:txBody>
      </p:sp>
      <p:sp>
        <p:nvSpPr>
          <p:cNvPr id="12" name="Text 9"/>
          <p:cNvSpPr txBox="1"/>
          <p:nvPr/>
        </p:nvSpPr>
        <p:spPr>
          <a:xfrm>
            <a:off x="8366760" y="2212848"/>
            <a:ext cx="3108960" cy="502920"/>
          </a:xfrm>
          <a:prstGeom prst="rect">
            <a:avLst/>
          </a:prstGeom>
          <a:noFill/>
          <a:ln/>
        </p:spPr>
        <p:txBody>
          <a:bodyPr wrap="square" lIns="0" tIns="0" rIns="0" bIns="0" rtlCol="0" anchor="t"/>
          <a:lstStyle/>
          <a:p>
            <a:pPr indent="0" marL="0">
              <a:buNone/>
            </a:pPr>
            <a:r>
              <a:rPr lang="en-US" sz="1400" dirty="0">
                <a:solidFill>
                  <a:schemeClr val="tx2"/>
                </a:solidFill>
              </a:rPr>
              <a:t>sis olayı; medyan süre 2 sa</a:t>
            </a:r>
            <a:endParaRPr lang="en-US" sz="1400" dirty="0"/>
          </a:p>
        </p:txBody>
      </p:sp>
      <p:sp>
        <p:nvSpPr>
          <p:cNvPr id="13" name="Shape 10"/>
          <p:cNvSpPr/>
          <p:nvPr/>
        </p:nvSpPr>
        <p:spPr>
          <a:xfrm>
            <a:off x="548640" y="3017520"/>
            <a:ext cx="3520440" cy="1463040"/>
          </a:xfrm>
          <a:prstGeom prst="roundRect">
            <a:avLst>
              <a:gd name="adj" fmla="val 5000"/>
            </a:avLst>
          </a:prstGeom>
          <a:solidFill>
            <a:srgbClr val="E6EBEF"/>
          </a:solidFill>
          <a:ln w="12700">
            <a:solidFill>
              <a:srgbClr val="E6EBEF"/>
            </a:solidFill>
            <a:prstDash val="solid"/>
          </a:ln>
        </p:spPr>
      </p:sp>
      <p:sp>
        <p:nvSpPr>
          <p:cNvPr id="14" name="stat-sis dilimi o"/>
          <p:cNvSpPr txBox="1"/>
          <p:nvPr/>
        </p:nvSpPr>
        <p:spPr>
          <a:xfrm>
            <a:off x="777240" y="312724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%1,02</a:t>
            </a:r>
            <a:endParaRPr lang="en-US" sz="3400" dirty="0"/>
          </a:p>
        </p:txBody>
      </p:sp>
      <p:sp>
        <p:nvSpPr>
          <p:cNvPr id="15" name="Text 12"/>
          <p:cNvSpPr txBox="1"/>
          <p:nvPr/>
        </p:nvSpPr>
        <p:spPr>
          <a:xfrm>
            <a:off x="777240" y="3904488"/>
            <a:ext cx="3108960" cy="502920"/>
          </a:xfrm>
          <a:prstGeom prst="rect">
            <a:avLst/>
          </a:prstGeom>
          <a:noFill/>
          <a:ln/>
        </p:spPr>
        <p:txBody>
          <a:bodyPr wrap="square" lIns="0" tIns="0" rIns="0" bIns="0" rtlCol="0" anchor="t"/>
          <a:lstStyle/>
          <a:p>
            <a:pPr indent="0" marL="0">
              <a:buNone/>
            </a:pPr>
            <a:r>
              <a:rPr lang="en-US" sz="1400" dirty="0">
                <a:solidFill>
                  <a:schemeClr val="tx2"/>
                </a:solidFill>
              </a:rPr>
              <a:t>sis dilimi oranı (görüş &lt; 1000 m)</a:t>
            </a:r>
            <a:endParaRPr lang="en-US" sz="1400" dirty="0"/>
          </a:p>
        </p:txBody>
      </p:sp>
      <p:sp>
        <p:nvSpPr>
          <p:cNvPr id="16" name="Shape 13"/>
          <p:cNvSpPr/>
          <p:nvPr/>
        </p:nvSpPr>
        <p:spPr>
          <a:xfrm>
            <a:off x="4343400" y="3017520"/>
            <a:ext cx="3520440" cy="1463040"/>
          </a:xfrm>
          <a:prstGeom prst="roundRect">
            <a:avLst>
              <a:gd name="adj" fmla="val 5000"/>
            </a:avLst>
          </a:prstGeom>
          <a:solidFill>
            <a:srgbClr val="E6EBEF"/>
          </a:solidFill>
          <a:ln w="12700">
            <a:solidFill>
              <a:srgbClr val="E6EBEF"/>
            </a:solidFill>
            <a:prstDash val="solid"/>
          </a:ln>
        </p:spPr>
      </p:sp>
      <p:sp>
        <p:nvSpPr>
          <p:cNvPr id="17" name="stat-görüş &amp;lt; 1500"/>
          <p:cNvSpPr txBox="1"/>
          <p:nvPr/>
        </p:nvSpPr>
        <p:spPr>
          <a:xfrm>
            <a:off x="4572000" y="312724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%99,9</a:t>
            </a:r>
            <a:endParaRPr lang="en-US" sz="3400" dirty="0"/>
          </a:p>
        </p:txBody>
      </p:sp>
      <p:sp>
        <p:nvSpPr>
          <p:cNvPr id="18" name="Text 15"/>
          <p:cNvSpPr txBox="1"/>
          <p:nvPr/>
        </p:nvSpPr>
        <p:spPr>
          <a:xfrm>
            <a:off x="4572000" y="3904488"/>
            <a:ext cx="3108960" cy="502920"/>
          </a:xfrm>
          <a:prstGeom prst="rect">
            <a:avLst/>
          </a:prstGeom>
          <a:noFill/>
          <a:ln/>
        </p:spPr>
        <p:txBody>
          <a:bodyPr wrap="square" lIns="0" tIns="0" rIns="0" bIns="0" rtlCol="0" anchor="t"/>
          <a:lstStyle/>
          <a:p>
            <a:pPr indent="0" marL="0">
              <a:buNone/>
            </a:pPr>
            <a:r>
              <a:rPr lang="en-US" sz="1400" dirty="0">
                <a:solidFill>
                  <a:schemeClr val="tx2"/>
                </a:solidFill>
              </a:rPr>
              <a:t>görüş &lt; 1500 m iken RVR raporu</a:t>
            </a:r>
            <a:endParaRPr lang="en-US" sz="1400" dirty="0"/>
          </a:p>
        </p:txBody>
      </p:sp>
      <p:sp>
        <p:nvSpPr>
          <p:cNvPr id="19" name="Shape 16"/>
          <p:cNvSpPr/>
          <p:nvPr/>
        </p:nvSpPr>
        <p:spPr>
          <a:xfrm>
            <a:off x="8138160" y="3017520"/>
            <a:ext cx="3520440" cy="1463040"/>
          </a:xfrm>
          <a:prstGeom prst="roundRect">
            <a:avLst>
              <a:gd name="adj" fmla="val 5000"/>
            </a:avLst>
          </a:prstGeom>
          <a:solidFill>
            <a:srgbClr val="E6EBEF"/>
          </a:solidFill>
          <a:ln w="12700">
            <a:solidFill>
              <a:srgbClr val="E6EBEF"/>
            </a:solidFill>
            <a:prstDash val="solid"/>
          </a:ln>
        </p:spPr>
      </p:sp>
      <p:sp>
        <p:nvSpPr>
          <p:cNvPr id="20" name="stat-çıkarılan ra"/>
          <p:cNvSpPr txBox="1"/>
          <p:nvPr/>
        </p:nvSpPr>
        <p:spPr>
          <a:xfrm>
            <a:off x="8366760" y="3127248"/>
            <a:ext cx="310896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109 / 47</a:t>
            </a:r>
            <a:endParaRPr lang="en-US" sz="3400" dirty="0"/>
          </a:p>
        </p:txBody>
      </p:sp>
      <p:sp>
        <p:nvSpPr>
          <p:cNvPr id="21" name="Text 18"/>
          <p:cNvSpPr txBox="1"/>
          <p:nvPr/>
        </p:nvSpPr>
        <p:spPr>
          <a:xfrm>
            <a:off x="8366760" y="3904488"/>
            <a:ext cx="3108960" cy="502920"/>
          </a:xfrm>
          <a:prstGeom prst="rect">
            <a:avLst/>
          </a:prstGeom>
          <a:noFill/>
          <a:ln/>
        </p:spPr>
        <p:txBody>
          <a:bodyPr wrap="square" lIns="0" tIns="0" rIns="0" bIns="0" rtlCol="0" anchor="t"/>
          <a:lstStyle/>
          <a:p>
            <a:pPr indent="0" marL="0">
              <a:buNone/>
            </a:pPr>
            <a:r>
              <a:rPr lang="en-US" sz="1400" dirty="0">
                <a:solidFill>
                  <a:schemeClr val="tx2"/>
                </a:solidFill>
              </a:rPr>
              <a:t>çıkarılan rasat / düzeltilen değer</a:t>
            </a:r>
            <a:endParaRPr lang="en-US" sz="1400" dirty="0"/>
          </a:p>
        </p:txBody>
      </p:sp>
      <p:sp>
        <p:nvSpPr>
          <p:cNvPr id="22" name="Text 19"/>
          <p:cNvSpPr txBox="1"/>
          <p:nvPr/>
        </p:nvSpPr>
        <p:spPr>
          <a:xfrm>
            <a:off x="548640" y="4892040"/>
            <a:ext cx="11064240" cy="822960"/>
          </a:xfrm>
          <a:prstGeom prst="rect">
            <a:avLst/>
          </a:prstGeom>
          <a:noFill/>
          <a:ln/>
        </p:spPr>
        <p:txBody>
          <a:bodyPr wrap="square" lIns="0" tIns="0" rIns="0" bIns="0" rtlCol="0" anchor="t"/>
          <a:lstStyle/>
          <a:p>
            <a:pPr indent="0" marL="0">
              <a:buNone/>
            </a:pPr>
            <a:r>
              <a:rPr lang="en-US" sz="1400" dirty="0">
                <a:solidFill>
                  <a:schemeClr val="tx2"/>
                </a:solidFill>
              </a:rPr>
              <a:t>Kaynaklar: Iowa Environmental Mesonet (orijinal METAR), Ogimet (2005–2012 boşluk dolgusu), NOAA AWC (canlı veri ve son 30 günün TAF'ları). Sentetik ISD kayıtları (RVR/TREND yok) çıkarıldı.</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Yöntem akışı</a:t>
            </a:r>
            <a:endParaRPr lang="en-US" sz="3000" dirty="0"/>
          </a:p>
        </p:txBody>
      </p:sp>
      <p:pic>
        <p:nvPicPr>
          <p:cNvPr id="4" name="Image 0" descr="C:\Users\Atasa\OneDrive\Masaüstü\Makine Öğrenmesi\Esenboğa Projesi\results\figures\tr\architecture.png">    </p:cNvPr>
          <p:cNvPicPr>
            <a:picLocks noChangeAspect="1"/>
          </p:cNvPicPr>
          <p:nvPr/>
        </p:nvPicPr>
        <p:blipFill>
          <a:blip r:embed="rId1"/>
          <a:stretch>
            <a:fillRect/>
          </a:stretch>
        </p:blipFill>
        <p:spPr>
          <a:xfrm>
            <a:off x="685800" y="1600200"/>
            <a:ext cx="10789920" cy="379476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Hedefler ve öznitelikler</a:t>
            </a:r>
            <a:endParaRPr lang="en-US" sz="3000" dirty="0"/>
          </a:p>
        </p:txBody>
      </p:sp>
      <p:sp>
        <p:nvSpPr>
          <p:cNvPr id="4" name="Text 1"/>
          <p:cNvSpPr txBox="1"/>
          <p:nvPr/>
        </p:nvSpPr>
        <p:spPr>
          <a:xfrm>
            <a:off x="548640" y="1234440"/>
            <a:ext cx="51206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Tahmin edilen değişkenler (1, 3, 6 sa sonra)</a:t>
            </a:r>
            <a:endParaRPr lang="en-US" sz="2000" dirty="0"/>
          </a:p>
        </p:txBody>
      </p:sp>
      <p:sp>
        <p:nvSpPr>
          <p:cNvPr id="5" name="Shape 2"/>
          <p:cNvSpPr/>
          <p:nvPr/>
        </p:nvSpPr>
        <p:spPr>
          <a:xfrm>
            <a:off x="548640" y="1828800"/>
            <a:ext cx="5120640" cy="594360"/>
          </a:xfrm>
          <a:prstGeom prst="roundRect">
            <a:avLst>
              <a:gd name="adj" fmla="val 12308"/>
            </a:avLst>
          </a:prstGeom>
          <a:solidFill>
            <a:srgbClr val="2B3E5A"/>
          </a:solidFill>
          <a:ln w="12700">
            <a:solidFill>
              <a:srgbClr val="2B3E5A"/>
            </a:solidFill>
            <a:prstDash val="solid"/>
          </a:ln>
        </p:spPr>
      </p:sp>
      <p:sp>
        <p:nvSpPr>
          <p:cNvPr id="6" name="Text 3"/>
          <p:cNvSpPr txBox="1"/>
          <p:nvPr/>
        </p:nvSpPr>
        <p:spPr>
          <a:xfrm>
            <a:off x="731520" y="1828800"/>
            <a:ext cx="4846320" cy="594360"/>
          </a:xfrm>
          <a:prstGeom prst="rect">
            <a:avLst/>
          </a:prstGeom>
          <a:noFill/>
          <a:ln/>
        </p:spPr>
        <p:txBody>
          <a:bodyPr wrap="square" lIns="0" tIns="0" rIns="0" bIns="0" rtlCol="0" anchor="ctr"/>
          <a:lstStyle/>
          <a:p>
            <a:pPr indent="0" marL="0">
              <a:buNone/>
            </a:pPr>
            <a:r>
              <a:rPr lang="en-US" sz="1700" b="1" dirty="0">
                <a:solidFill>
                  <a:schemeClr val="bg1"/>
                </a:solidFill>
              </a:rPr>
              <a:t>Sis: hâkim görüş &lt; 1000 m</a:t>
            </a:r>
            <a:endParaRPr lang="en-US" sz="1700" dirty="0"/>
          </a:p>
        </p:txBody>
      </p:sp>
      <p:sp>
        <p:nvSpPr>
          <p:cNvPr id="7" name="Shape 4"/>
          <p:cNvSpPr/>
          <p:nvPr/>
        </p:nvSpPr>
        <p:spPr>
          <a:xfrm>
            <a:off x="548640" y="2606040"/>
            <a:ext cx="5120640" cy="594360"/>
          </a:xfrm>
          <a:prstGeom prst="roundRect">
            <a:avLst>
              <a:gd name="adj" fmla="val 12308"/>
            </a:avLst>
          </a:prstGeom>
          <a:solidFill>
            <a:srgbClr val="1F9D5B"/>
          </a:solidFill>
          <a:ln w="12700">
            <a:solidFill>
              <a:srgbClr val="1F9D5B"/>
            </a:solidFill>
            <a:prstDash val="solid"/>
          </a:ln>
        </p:spPr>
      </p:sp>
      <p:sp>
        <p:nvSpPr>
          <p:cNvPr id="8" name="Text 5"/>
          <p:cNvSpPr txBox="1"/>
          <p:nvPr/>
        </p:nvSpPr>
        <p:spPr>
          <a:xfrm>
            <a:off x="731520" y="2606040"/>
            <a:ext cx="4846320" cy="594360"/>
          </a:xfrm>
          <a:prstGeom prst="rect">
            <a:avLst/>
          </a:prstGeom>
          <a:noFill/>
          <a:ln/>
        </p:spPr>
        <p:txBody>
          <a:bodyPr wrap="square" lIns="0" tIns="0" rIns="0" bIns="0" rtlCol="0" anchor="ctr"/>
          <a:lstStyle/>
          <a:p>
            <a:pPr indent="0" marL="0">
              <a:buNone/>
            </a:pPr>
            <a:r>
              <a:rPr lang="en-US" sz="1700" b="1" dirty="0">
                <a:solidFill>
                  <a:schemeClr val="bg1"/>
                </a:solidFill>
              </a:rPr>
              <a:t>CAT I+: RVR ≥ 550 m</a:t>
            </a:r>
            <a:endParaRPr lang="en-US" sz="1700" dirty="0"/>
          </a:p>
        </p:txBody>
      </p:sp>
      <p:sp>
        <p:nvSpPr>
          <p:cNvPr id="9" name="Shape 6"/>
          <p:cNvSpPr/>
          <p:nvPr/>
        </p:nvSpPr>
        <p:spPr>
          <a:xfrm>
            <a:off x="548640" y="3383280"/>
            <a:ext cx="5120640" cy="594360"/>
          </a:xfrm>
          <a:prstGeom prst="roundRect">
            <a:avLst>
              <a:gd name="adj" fmla="val 12308"/>
            </a:avLst>
          </a:prstGeom>
          <a:solidFill>
            <a:srgbClr val="E2762B"/>
          </a:solidFill>
          <a:ln w="12700">
            <a:solidFill>
              <a:srgbClr val="E2762B"/>
            </a:solidFill>
            <a:prstDash val="solid"/>
          </a:ln>
        </p:spPr>
      </p:sp>
      <p:sp>
        <p:nvSpPr>
          <p:cNvPr id="10" name="Text 7"/>
          <p:cNvSpPr txBox="1"/>
          <p:nvPr/>
        </p:nvSpPr>
        <p:spPr>
          <a:xfrm>
            <a:off x="731520" y="3383280"/>
            <a:ext cx="4846320" cy="594360"/>
          </a:xfrm>
          <a:prstGeom prst="rect">
            <a:avLst/>
          </a:prstGeom>
          <a:noFill/>
          <a:ln/>
        </p:spPr>
        <p:txBody>
          <a:bodyPr wrap="square" lIns="0" tIns="0" rIns="0" bIns="0" rtlCol="0" anchor="ctr"/>
          <a:lstStyle/>
          <a:p>
            <a:pPr indent="0" marL="0">
              <a:buNone/>
            </a:pPr>
            <a:r>
              <a:rPr lang="en-US" sz="1700" b="1" dirty="0">
                <a:solidFill>
                  <a:schemeClr val="bg1"/>
                </a:solidFill>
              </a:rPr>
              <a:t>CAT II: 350 ≤ RVR &lt; 550 m</a:t>
            </a:r>
            <a:endParaRPr lang="en-US" sz="1700" dirty="0"/>
          </a:p>
        </p:txBody>
      </p:sp>
      <p:sp>
        <p:nvSpPr>
          <p:cNvPr id="11" name="Shape 8"/>
          <p:cNvSpPr/>
          <p:nvPr/>
        </p:nvSpPr>
        <p:spPr>
          <a:xfrm>
            <a:off x="548640" y="4160520"/>
            <a:ext cx="5120640" cy="594360"/>
          </a:xfrm>
          <a:prstGeom prst="roundRect">
            <a:avLst>
              <a:gd name="adj" fmla="val 12308"/>
            </a:avLst>
          </a:prstGeom>
          <a:solidFill>
            <a:srgbClr val="C8323F"/>
          </a:solidFill>
          <a:ln w="12700">
            <a:solidFill>
              <a:srgbClr val="C8323F"/>
            </a:solidFill>
            <a:prstDash val="solid"/>
          </a:ln>
        </p:spPr>
      </p:sp>
      <p:sp>
        <p:nvSpPr>
          <p:cNvPr id="12" name="Text 9"/>
          <p:cNvSpPr txBox="1"/>
          <p:nvPr/>
        </p:nvSpPr>
        <p:spPr>
          <a:xfrm>
            <a:off x="731520" y="4160520"/>
            <a:ext cx="4846320" cy="594360"/>
          </a:xfrm>
          <a:prstGeom prst="rect">
            <a:avLst/>
          </a:prstGeom>
          <a:noFill/>
          <a:ln/>
        </p:spPr>
        <p:txBody>
          <a:bodyPr wrap="square" lIns="0" tIns="0" rIns="0" bIns="0" rtlCol="0" anchor="ctr"/>
          <a:lstStyle/>
          <a:p>
            <a:pPr indent="0" marL="0">
              <a:buNone/>
            </a:pPr>
            <a:r>
              <a:rPr lang="en-US" sz="1700" b="1" dirty="0">
                <a:solidFill>
                  <a:schemeClr val="bg1"/>
                </a:solidFill>
              </a:rPr>
              <a:t>CAT III: RVR &lt; 350 m</a:t>
            </a:r>
            <a:endParaRPr lang="en-US" sz="1700" dirty="0"/>
          </a:p>
        </p:txBody>
      </p:sp>
      <p:sp>
        <p:nvSpPr>
          <p:cNvPr id="13" name="Text 10"/>
          <p:cNvSpPr txBox="1"/>
          <p:nvPr/>
        </p:nvSpPr>
        <p:spPr>
          <a:xfrm>
            <a:off x="548640" y="5029200"/>
            <a:ext cx="5120640" cy="365760"/>
          </a:xfrm>
          <a:prstGeom prst="rect">
            <a:avLst/>
          </a:prstGeom>
          <a:noFill/>
          <a:ln/>
        </p:spPr>
        <p:txBody>
          <a:bodyPr wrap="square" lIns="0" tIns="0" rIns="0" bIns="0" rtlCol="0" anchor="ctr"/>
          <a:lstStyle/>
          <a:p>
            <a:pPr indent="0" marL="0">
              <a:buNone/>
            </a:pPr>
            <a:r>
              <a:rPr lang="en-US" sz="1200" dirty="0">
                <a:solidFill>
                  <a:schemeClr val="tx2"/>
                </a:solidFill>
              </a:rPr>
              <a:t>Sınırlar: Çamalan vd. (2010) ve ICAO Doc 9365.</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26480" y="1280160"/>
          <a:ext cx="5486400" cy="914400"/>
        </p:xfrm>
        <a:graphic>
          <a:graphicData uri="http://schemas.openxmlformats.org/drawingml/2006/table">
            <a:tbl>
              <a:tblPr/>
              <a:tblGrid>
                <a:gridCol w="1463040"/>
                <a:gridCol w="457200"/>
                <a:gridCol w="3566160"/>
              </a:tblGrid>
              <a:tr h="566928">
                <a:tc>
                  <a:txBody>
                    <a:bodyPr/>
                    <a:lstStyle/>
                    <a:p>
                      <a:pPr indent="0" marL="0">
                        <a:buNone/>
                      </a:pPr>
                      <a:r>
                        <a:rPr lang="en-US" sz="1400" b="1" dirty="0">
                          <a:solidFill>
                            <a:srgbClr val="FFFFFF"/>
                          </a:solidFill>
                        </a:rPr>
                        <a:t>Grup</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13233A"/>
                    </a:solidFill>
                  </a:tcPr>
                </a:tc>
                <a:tc>
                  <a:txBody>
                    <a:bodyPr/>
                    <a:lstStyle/>
                    <a:p>
                      <a:pPr indent="0" marL="0">
                        <a:buNone/>
                      </a:pPr>
                      <a:r>
                        <a:rPr lang="en-US" sz="1400" b="1" dirty="0">
                          <a:solidFill>
                            <a:srgbClr val="FFFFFF"/>
                          </a:solidFill>
                        </a:rPr>
                        <a:t>n</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13233A"/>
                    </a:solidFill>
                  </a:tcPr>
                </a:tc>
                <a:tc>
                  <a:txBody>
                    <a:bodyPr/>
                    <a:lstStyle/>
                    <a:p>
                      <a:pPr indent="0" marL="0">
                        <a:buNone/>
                      </a:pPr>
                      <a:r>
                        <a:rPr lang="en-US" sz="1400" b="1" dirty="0">
                          <a:solidFill>
                            <a:srgbClr val="FFFFFF"/>
                          </a:solidFill>
                        </a:rPr>
                        <a:t>Örnekler</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13233A"/>
                    </a:solidFill>
                  </a:tcPr>
                </a:tc>
              </a:tr>
              <a:tr h="566928">
                <a:tc>
                  <a:txBody>
                    <a:bodyPr/>
                    <a:lstStyle/>
                    <a:p>
                      <a:pPr indent="0" marL="0">
                        <a:buNone/>
                      </a:pPr>
                      <a:r>
                        <a:rPr lang="en-US" sz="1400" dirty="0">
                          <a:solidFill>
                            <a:srgbClr val="13233A"/>
                          </a:solidFill>
                        </a:rPr>
                        <a:t>Anlık durum</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21</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görüş, RVR, T, Td, T−Td, nem, rüzgâr, QNH, bulut</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3233A"/>
                          </a:solidFill>
                        </a:rPr>
                        <a:t>Hadise</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11</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FG, BCFG/MIFG, BR, HZ, DZ, RA, SN</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3233A"/>
                          </a:solidFill>
                        </a:rPr>
                        <a:t>Eğilimler</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19</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1/3/6 sa soğuma, kuruma/nemlenme, görüş eğilimi</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3233A"/>
                          </a:solidFill>
                        </a:rPr>
                        <a:t>Bellek</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13</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12 sa max'tan soğuma, son sisten beri süre, kar oranı</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3233A"/>
                          </a:solidFill>
                        </a:rPr>
                        <a:t>Güneş ve takvim</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13</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c>
                  <a:txBody>
                    <a:bodyPr/>
                    <a:lstStyle/>
                    <a:p>
                      <a:pPr indent="0" marL="0">
                        <a:buNone/>
                      </a:pPr>
                      <a:r>
                        <a:rPr lang="en-US" sz="1400" dirty="0">
                          <a:solidFill>
                            <a:srgbClr val="13233A"/>
                          </a:solidFill>
                        </a:rPr>
                        <a:t>Güneş yüksekliği, gün doğumuna kalan süre</a:t>
                      </a:r>
                      <a:endParaRPr lang="en-US" sz="1400" dirty="0"/>
                    </a:p>
                  </a:txBody>
                  <a:tcPr marL="54864" marR="54864" marT="54864" marB="54864" anchor="ctr">
                    <a:lnL w="9525" cap="flat" cmpd="sng" algn="ctr">
                      <a:solidFill>
                        <a:srgbClr val="D3DBE2"/>
                      </a:solidFill>
                      <a:prstDash val="solid"/>
                      <a:round/>
                      <a:headEnd type="none" w="med" len="med"/>
                      <a:tailEnd type="none" w="med" len="med"/>
                    </a:lnL>
                    <a:lnR w="9525" cap="flat" cmpd="sng" algn="ctr">
                      <a:solidFill>
                        <a:srgbClr val="D3DBE2"/>
                      </a:solidFill>
                      <a:prstDash val="solid"/>
                      <a:round/>
                      <a:headEnd type="none" w="med" len="med"/>
                      <a:tailEnd type="none" w="med" len="med"/>
                    </a:lnR>
                    <a:lnT w="9525" cap="flat" cmpd="sng" algn="ctr">
                      <a:solidFill>
                        <a:srgbClr val="D3DBE2"/>
                      </a:solidFill>
                      <a:prstDash val="solid"/>
                      <a:round/>
                      <a:headEnd type="none" w="med" len="med"/>
                      <a:tailEnd type="none" w="med" len="med"/>
                    </a:lnT>
                    <a:lnB w="9525" cap="flat" cmpd="sng" algn="ctr">
                      <a:solidFill>
                        <a:srgbClr val="D3DB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Modeller ve sızıntısız doğrulama</a:t>
            </a:r>
            <a:endParaRPr lang="en-US" sz="3000" dirty="0"/>
          </a:p>
        </p:txBody>
      </p:sp>
      <p:sp>
        <p:nvSpPr>
          <p:cNvPr id="4" name="Shape 1"/>
          <p:cNvSpPr/>
          <p:nvPr/>
        </p:nvSpPr>
        <p:spPr>
          <a:xfrm>
            <a:off x="548640" y="1371600"/>
            <a:ext cx="7130288" cy="685800"/>
          </a:xfrm>
          <a:prstGeom prst="rect">
            <a:avLst/>
          </a:prstGeom>
          <a:solidFill>
            <a:srgbClr val="2B3E5A"/>
          </a:solidFill>
          <a:ln w="12700">
            <a:solidFill>
              <a:srgbClr val="FFFFFF"/>
            </a:solidFill>
            <a:prstDash val="solid"/>
          </a:ln>
        </p:spPr>
      </p:sp>
      <p:sp>
        <p:nvSpPr>
          <p:cNvPr id="5" name="Text 2"/>
          <p:cNvSpPr txBox="1"/>
          <p:nvPr/>
        </p:nvSpPr>
        <p:spPr>
          <a:xfrm>
            <a:off x="621792" y="1371600"/>
            <a:ext cx="7038848" cy="685800"/>
          </a:xfrm>
          <a:prstGeom prst="rect">
            <a:avLst/>
          </a:prstGeom>
          <a:noFill/>
          <a:ln/>
        </p:spPr>
        <p:txBody>
          <a:bodyPr wrap="square" lIns="0" tIns="0" rIns="0" bIns="0" rtlCol="0" anchor="ctr"/>
          <a:lstStyle/>
          <a:p>
            <a:pPr indent="0" marL="0">
              <a:buNone/>
            </a:pPr>
            <a:r>
              <a:rPr lang="en-US" sz="1500" b="1" dirty="0">
                <a:solidFill>
                  <a:srgbClr val="FFFFFF"/>
                </a:solidFill>
              </a:rPr>
              <a:t>Eğitim</a:t>
            </a:r>
            <a:endParaRPr lang="en-US" sz="1500" dirty="0"/>
          </a:p>
          <a:p>
            <a:pPr indent="0" marL="0">
              <a:buNone/>
            </a:pPr>
            <a:r>
              <a:rPr lang="en-US" sz="1200" dirty="0">
                <a:solidFill>
                  <a:srgbClr val="FFFFFF"/>
                </a:solidFill>
              </a:rPr>
              <a:t>2005–2019</a:t>
            </a:r>
            <a:endParaRPr lang="en-US" sz="1500" dirty="0"/>
          </a:p>
        </p:txBody>
      </p:sp>
      <p:sp>
        <p:nvSpPr>
          <p:cNvPr id="6" name="Shape 3"/>
          <p:cNvSpPr/>
          <p:nvPr/>
        </p:nvSpPr>
        <p:spPr>
          <a:xfrm>
            <a:off x="7678928" y="1371600"/>
            <a:ext cx="1475232" cy="685800"/>
          </a:xfrm>
          <a:prstGeom prst="rect">
            <a:avLst/>
          </a:prstGeom>
          <a:solidFill>
            <a:srgbClr val="1F77B4"/>
          </a:solidFill>
          <a:ln w="12700">
            <a:solidFill>
              <a:srgbClr val="FFFFFF"/>
            </a:solidFill>
            <a:prstDash val="solid"/>
          </a:ln>
        </p:spPr>
      </p:sp>
      <p:sp>
        <p:nvSpPr>
          <p:cNvPr id="7" name="Text 4"/>
          <p:cNvSpPr txBox="1"/>
          <p:nvPr/>
        </p:nvSpPr>
        <p:spPr>
          <a:xfrm>
            <a:off x="7752080" y="1371600"/>
            <a:ext cx="1383792" cy="685800"/>
          </a:xfrm>
          <a:prstGeom prst="rect">
            <a:avLst/>
          </a:prstGeom>
          <a:noFill/>
          <a:ln/>
        </p:spPr>
        <p:txBody>
          <a:bodyPr wrap="square" lIns="0" tIns="0" rIns="0" bIns="0" rtlCol="0" anchor="ctr"/>
          <a:lstStyle/>
          <a:p>
            <a:pPr indent="0" marL="0">
              <a:buNone/>
            </a:pPr>
            <a:r>
              <a:rPr lang="en-US" sz="1500" b="1" dirty="0">
                <a:solidFill>
                  <a:srgbClr val="FFFFFF"/>
                </a:solidFill>
              </a:rPr>
              <a:t>Doğrulama</a:t>
            </a:r>
            <a:endParaRPr lang="en-US" sz="1500" dirty="0"/>
          </a:p>
          <a:p>
            <a:pPr indent="0" marL="0">
              <a:buNone/>
            </a:pPr>
            <a:r>
              <a:rPr lang="en-US" sz="1200" dirty="0">
                <a:solidFill>
                  <a:srgbClr val="FFFFFF"/>
                </a:solidFill>
              </a:rPr>
              <a:t>2019–2022</a:t>
            </a:r>
            <a:endParaRPr lang="en-US" sz="1500" dirty="0"/>
          </a:p>
        </p:txBody>
      </p:sp>
      <p:sp>
        <p:nvSpPr>
          <p:cNvPr id="8" name="Shape 5"/>
          <p:cNvSpPr/>
          <p:nvPr/>
        </p:nvSpPr>
        <p:spPr>
          <a:xfrm>
            <a:off x="9154160" y="1371600"/>
            <a:ext cx="1966976" cy="685800"/>
          </a:xfrm>
          <a:prstGeom prst="rect">
            <a:avLst/>
          </a:prstGeom>
          <a:solidFill>
            <a:srgbClr val="1F9D5B"/>
          </a:solidFill>
          <a:ln w="12700">
            <a:solidFill>
              <a:srgbClr val="FFFFFF"/>
            </a:solidFill>
            <a:prstDash val="solid"/>
          </a:ln>
        </p:spPr>
      </p:sp>
      <p:sp>
        <p:nvSpPr>
          <p:cNvPr id="9" name="Text 6"/>
          <p:cNvSpPr txBox="1"/>
          <p:nvPr/>
        </p:nvSpPr>
        <p:spPr>
          <a:xfrm>
            <a:off x="9227312" y="1371600"/>
            <a:ext cx="1875536" cy="685800"/>
          </a:xfrm>
          <a:prstGeom prst="rect">
            <a:avLst/>
          </a:prstGeom>
          <a:noFill/>
          <a:ln/>
        </p:spPr>
        <p:txBody>
          <a:bodyPr wrap="square" lIns="0" tIns="0" rIns="0" bIns="0" rtlCol="0" anchor="ctr"/>
          <a:lstStyle/>
          <a:p>
            <a:pPr indent="0" marL="0">
              <a:buNone/>
            </a:pPr>
            <a:r>
              <a:rPr lang="en-US" sz="1500" b="1" dirty="0">
                <a:solidFill>
                  <a:srgbClr val="FFFFFF"/>
                </a:solidFill>
              </a:rPr>
              <a:t>Test</a:t>
            </a:r>
            <a:endParaRPr lang="en-US" sz="1500" dirty="0"/>
          </a:p>
          <a:p>
            <a:pPr indent="0" marL="0">
              <a:buNone/>
            </a:pPr>
            <a:r>
              <a:rPr lang="en-US" sz="1200" dirty="0">
                <a:solidFill>
                  <a:srgbClr val="FFFFFF"/>
                </a:solidFill>
              </a:rPr>
              <a:t>2022–2026</a:t>
            </a:r>
            <a:endParaRPr lang="en-US" sz="1500" dirty="0"/>
          </a:p>
        </p:txBody>
      </p:sp>
      <p:sp>
        <p:nvSpPr>
          <p:cNvPr id="10" name="Shape 7"/>
          <p:cNvSpPr/>
          <p:nvPr/>
        </p:nvSpPr>
        <p:spPr>
          <a:xfrm>
            <a:off x="11121136" y="1371600"/>
            <a:ext cx="491744" cy="685800"/>
          </a:xfrm>
          <a:prstGeom prst="rect">
            <a:avLst/>
          </a:prstGeom>
          <a:solidFill>
            <a:srgbClr val="F2C200"/>
          </a:solidFill>
          <a:ln w="12700">
            <a:solidFill>
              <a:srgbClr val="FFFFFF"/>
            </a:solidFill>
            <a:prstDash val="solid"/>
          </a:ln>
        </p:spPr>
      </p:sp>
      <p:sp>
        <p:nvSpPr>
          <p:cNvPr id="11" name="Text 8"/>
          <p:cNvSpPr txBox="1"/>
          <p:nvPr/>
        </p:nvSpPr>
        <p:spPr>
          <a:xfrm>
            <a:off x="11194288" y="1371600"/>
            <a:ext cx="822960" cy="685800"/>
          </a:xfrm>
          <a:prstGeom prst="rect">
            <a:avLst/>
          </a:prstGeom>
          <a:noFill/>
          <a:ln/>
        </p:spPr>
        <p:txBody>
          <a:bodyPr wrap="square" lIns="0" tIns="0" rIns="0" bIns="0" rtlCol="0" anchor="ctr"/>
          <a:lstStyle/>
          <a:p>
            <a:pPr indent="0" marL="0">
              <a:buNone/>
            </a:pPr>
            <a:r>
              <a:rPr lang="en-US" sz="1500" b="1" dirty="0">
                <a:solidFill>
                  <a:srgbClr val="13233A"/>
                </a:solidFill>
              </a:rPr>
              <a:t>Canlı</a:t>
            </a:r>
            <a:endParaRPr lang="en-US" sz="1500" dirty="0"/>
          </a:p>
          <a:p>
            <a:pPr indent="0" marL="0">
              <a:buNone/>
            </a:pPr>
            <a:r>
              <a:rPr lang="en-US" sz="1200" dirty="0">
                <a:solidFill>
                  <a:srgbClr val="13233A"/>
                </a:solidFill>
              </a:rPr>
              <a:t>2026–</a:t>
            </a:r>
            <a:endParaRPr lang="en-US" sz="1500" dirty="0"/>
          </a:p>
        </p:txBody>
      </p:sp>
      <p:sp>
        <p:nvSpPr>
          <p:cNvPr id="12" name="Shape 9"/>
          <p:cNvSpPr/>
          <p:nvPr/>
        </p:nvSpPr>
        <p:spPr>
          <a:xfrm>
            <a:off x="548640" y="2468880"/>
            <a:ext cx="3520440" cy="3611880"/>
          </a:xfrm>
          <a:prstGeom prst="roundRect">
            <a:avLst>
              <a:gd name="adj" fmla="val 2078"/>
            </a:avLst>
          </a:prstGeom>
          <a:solidFill>
            <a:srgbClr val="E6EBEF"/>
          </a:solidFill>
          <a:ln w="12700">
            <a:solidFill>
              <a:srgbClr val="E6EBEF"/>
            </a:solidFill>
            <a:prstDash val="solid"/>
          </a:ln>
        </p:spPr>
      </p:sp>
      <p:sp>
        <p:nvSpPr>
          <p:cNvPr id="13" name="Text 10"/>
          <p:cNvSpPr txBox="1"/>
          <p:nvPr/>
        </p:nvSpPr>
        <p:spPr>
          <a:xfrm>
            <a:off x="731520" y="2606040"/>
            <a:ext cx="320040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Modeller</a:t>
            </a:r>
            <a:endParaRPr lang="en-US" sz="1900" dirty="0"/>
          </a:p>
        </p:txBody>
      </p:sp>
      <p:sp>
        <p:nvSpPr>
          <p:cNvPr id="14" name="Text 11"/>
          <p:cNvSpPr txBox="1"/>
          <p:nvPr/>
        </p:nvSpPr>
        <p:spPr>
          <a:xfrm>
            <a:off x="731520" y="3154680"/>
            <a:ext cx="3200400" cy="27432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Lojistik regresyon (temel)</a:t>
            </a:r>
            <a:endParaRPr lang="en-US" sz="1500" dirty="0"/>
          </a:p>
          <a:p>
            <a:pPr marL="342900" indent="-342900">
              <a:spcAft>
                <a:spcPts val="800"/>
              </a:spcAft>
              <a:buSzPct val="100000"/>
              <a:buChar char="•"/>
            </a:pPr>
            <a:r>
              <a:rPr lang="en-US" sz="1500" dirty="0">
                <a:solidFill>
                  <a:schemeClr val="tx1"/>
                </a:solidFill>
              </a:rPr>
              <a:t>Rastgele orman</a:t>
            </a:r>
            <a:endParaRPr lang="en-US" sz="1500" dirty="0"/>
          </a:p>
          <a:p>
            <a:pPr marL="342900" indent="-342900">
              <a:spcAft>
                <a:spcPts val="800"/>
              </a:spcAft>
              <a:buSzPct val="100000"/>
              <a:buChar char="•"/>
            </a:pPr>
            <a:r>
              <a:rPr lang="en-US" sz="1500" dirty="0">
                <a:solidFill>
                  <a:schemeClr val="tx1"/>
                </a:solidFill>
              </a:rPr>
              <a:t>XGBoost ve LightGBM (Optuna, 30 deneme)</a:t>
            </a:r>
            <a:endParaRPr lang="en-US" sz="1500" dirty="0"/>
          </a:p>
          <a:p>
            <a:pPr marL="342900" indent="-342900">
              <a:spcAft>
                <a:spcPts val="800"/>
              </a:spcAft>
              <a:buSzPct val="100000"/>
              <a:buChar char="•"/>
            </a:pPr>
            <a:r>
              <a:rPr lang="en-US" sz="1500" dirty="0">
                <a:solidFill>
                  <a:schemeClr val="tx1"/>
                </a:solidFill>
              </a:rPr>
              <a:t>Çok görevli GRU ve LSTM (12 sa dizi, GPU)</a:t>
            </a:r>
            <a:endParaRPr lang="en-US" sz="1500" dirty="0"/>
          </a:p>
        </p:txBody>
      </p:sp>
      <p:sp>
        <p:nvSpPr>
          <p:cNvPr id="15" name="Shape 12"/>
          <p:cNvSpPr/>
          <p:nvPr/>
        </p:nvSpPr>
        <p:spPr>
          <a:xfrm>
            <a:off x="4343400" y="2468880"/>
            <a:ext cx="3520440" cy="3611880"/>
          </a:xfrm>
          <a:prstGeom prst="roundRect">
            <a:avLst>
              <a:gd name="adj" fmla="val 2078"/>
            </a:avLst>
          </a:prstGeom>
          <a:solidFill>
            <a:srgbClr val="E6EBEF"/>
          </a:solidFill>
          <a:ln w="12700">
            <a:solidFill>
              <a:srgbClr val="E6EBEF"/>
            </a:solidFill>
            <a:prstDash val="solid"/>
          </a:ln>
        </p:spPr>
      </p:sp>
      <p:sp>
        <p:nvSpPr>
          <p:cNvPr id="16" name="Text 13"/>
          <p:cNvSpPr txBox="1"/>
          <p:nvPr/>
        </p:nvSpPr>
        <p:spPr>
          <a:xfrm>
            <a:off x="4526280" y="2606040"/>
            <a:ext cx="320040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Dengesizlik ve kalibrasyon</a:t>
            </a:r>
            <a:endParaRPr lang="en-US" sz="1900" dirty="0"/>
          </a:p>
        </p:txBody>
      </p:sp>
      <p:sp>
        <p:nvSpPr>
          <p:cNvPr id="17" name="Text 14"/>
          <p:cNvSpPr txBox="1"/>
          <p:nvPr/>
        </p:nvSpPr>
        <p:spPr>
          <a:xfrm>
            <a:off x="4526280" y="3154680"/>
            <a:ext cx="3200400" cy="27432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Sis örneklerin yalnızca %1'i</a:t>
            </a:r>
            <a:endParaRPr lang="en-US" sz="1500" dirty="0"/>
          </a:p>
          <a:p>
            <a:pPr marL="342900" indent="-342900">
              <a:spcAft>
                <a:spcPts val="800"/>
              </a:spcAft>
              <a:buSzPct val="100000"/>
              <a:buChar char="•"/>
            </a:pPr>
            <a:r>
              <a:rPr lang="en-US" sz="1500" dirty="0">
                <a:solidFill>
                  <a:schemeClr val="tx1"/>
                </a:solidFill>
              </a:rPr>
              <a:t>SMOTE/ağırlık: olasılıkları bozuyor</a:t>
            </a:r>
            <a:endParaRPr lang="en-US" sz="1500" dirty="0"/>
          </a:p>
          <a:p>
            <a:pPr marL="342900" indent="-342900">
              <a:spcAft>
                <a:spcPts val="800"/>
              </a:spcAft>
              <a:buSzPct val="100000"/>
              <a:buChar char="•"/>
            </a:pPr>
            <a:r>
              <a:rPr lang="en-US" sz="1500" dirty="0">
                <a:solidFill>
                  <a:schemeClr val="tx1"/>
                </a:solidFill>
              </a:rPr>
              <a:t>Kalibrasyon: yok/Platt/izotonik</a:t>
            </a:r>
            <a:endParaRPr lang="en-US" sz="1500" dirty="0"/>
          </a:p>
          <a:p>
            <a:pPr marL="342900" indent="-342900">
              <a:spcAft>
                <a:spcPts val="800"/>
              </a:spcAft>
              <a:buSzPct val="100000"/>
              <a:buChar char="•"/>
            </a:pPr>
            <a:r>
              <a:rPr lang="en-US" sz="1500" dirty="0">
                <a:solidFill>
                  <a:schemeClr val="tx1"/>
                </a:solidFill>
              </a:rPr>
              <a:t>Eşik: doğrulamada en yüksek CSI</a:t>
            </a:r>
            <a:endParaRPr lang="en-US" sz="1500" dirty="0"/>
          </a:p>
        </p:txBody>
      </p:sp>
      <p:sp>
        <p:nvSpPr>
          <p:cNvPr id="18" name="Shape 15"/>
          <p:cNvSpPr/>
          <p:nvPr/>
        </p:nvSpPr>
        <p:spPr>
          <a:xfrm>
            <a:off x="8138160" y="2468880"/>
            <a:ext cx="3520440" cy="3611880"/>
          </a:xfrm>
          <a:prstGeom prst="roundRect">
            <a:avLst>
              <a:gd name="adj" fmla="val 2078"/>
            </a:avLst>
          </a:prstGeom>
          <a:solidFill>
            <a:srgbClr val="E6EBEF"/>
          </a:solidFill>
          <a:ln w="12700">
            <a:solidFill>
              <a:srgbClr val="E6EBEF"/>
            </a:solidFill>
            <a:prstDash val="solid"/>
          </a:ln>
        </p:spPr>
      </p:sp>
      <p:sp>
        <p:nvSpPr>
          <p:cNvPr id="19" name="Text 16"/>
          <p:cNvSpPr txBox="1"/>
          <p:nvPr/>
        </p:nvSpPr>
        <p:spPr>
          <a:xfrm>
            <a:off x="8321040" y="2606040"/>
            <a:ext cx="3200400"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Sızıntı kontrolü</a:t>
            </a:r>
            <a:endParaRPr lang="en-US" sz="1900" dirty="0"/>
          </a:p>
        </p:txBody>
      </p:sp>
      <p:sp>
        <p:nvSpPr>
          <p:cNvPr id="20" name="Text 17"/>
          <p:cNvSpPr txBox="1"/>
          <p:nvPr/>
        </p:nvSpPr>
        <p:spPr>
          <a:xfrm>
            <a:off x="8321040" y="3154680"/>
            <a:ext cx="3200400" cy="274320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Öznitelik yalnızca t'ye kadarki veriden</a:t>
            </a:r>
            <a:endParaRPr lang="en-US" sz="1500" dirty="0"/>
          </a:p>
          <a:p>
            <a:pPr marL="342900" indent="-342900">
              <a:spcAft>
                <a:spcPts val="800"/>
              </a:spcAft>
              <a:buSzPct val="100000"/>
              <a:buChar char="•"/>
            </a:pPr>
            <a:r>
              <a:rPr lang="en-US" sz="1500" dirty="0">
                <a:solidFill>
                  <a:schemeClr val="tx1"/>
                </a:solidFill>
              </a:rPr>
              <a:t>Hedef t+h'deki yeni rasat</a:t>
            </a:r>
            <a:endParaRPr lang="en-US" sz="1500" dirty="0"/>
          </a:p>
          <a:p>
            <a:pPr marL="342900" indent="-342900">
              <a:spcAft>
                <a:spcPts val="800"/>
              </a:spcAft>
              <a:buSzPct val="100000"/>
              <a:buChar char="•"/>
            </a:pPr>
            <a:r>
              <a:rPr lang="en-US" sz="1500" dirty="0">
                <a:solidFill>
                  <a:schemeClr val="tx1"/>
                </a:solidFill>
              </a:rPr>
              <a:t>Otomatik sızıntı testi (17 test)</a:t>
            </a:r>
            <a:endParaRPr lang="en-US" sz="1500" dirty="0"/>
          </a:p>
          <a:p>
            <a:pPr marL="342900" indent="-342900">
              <a:spcAft>
                <a:spcPts val="800"/>
              </a:spcAft>
              <a:buSzPct val="100000"/>
              <a:buChar char="•"/>
            </a:pPr>
            <a:r>
              <a:rPr lang="en-US" sz="1500" dirty="0">
                <a:solidFill>
                  <a:schemeClr val="tx1"/>
                </a:solidFill>
              </a:rPr>
              <a:t>Test sezonları tek kez kullanıldı</a:t>
            </a:r>
            <a:endParaRPr lang="en-US" sz="15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Tüm modeller kalıcılığı anlamlı biçimde geçiyor</a:t>
            </a:r>
            <a:endParaRPr lang="en-US" sz="3000" dirty="0"/>
          </a:p>
        </p:txBody>
      </p:sp>
      <p:graphicFrame>
        <p:nvGraphicFramePr>
          <p:cNvPr id="4"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5" name="stat-1/3/6 sa CSI"/>
          <p:cNvSpPr txBox="1"/>
          <p:nvPr/>
        </p:nvSpPr>
        <p:spPr>
          <a:xfrm>
            <a:off x="7772400" y="1371600"/>
            <a:ext cx="3840480" cy="7772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+%12  +%45  +%130</a:t>
            </a:r>
            <a:endParaRPr lang="en-US" sz="3000" dirty="0"/>
          </a:p>
        </p:txBody>
      </p:sp>
      <p:sp>
        <p:nvSpPr>
          <p:cNvPr id="6" name="Text 2"/>
          <p:cNvSpPr txBox="1"/>
          <p:nvPr/>
        </p:nvSpPr>
        <p:spPr>
          <a:xfrm>
            <a:off x="7772400" y="2148840"/>
            <a:ext cx="3840480" cy="548640"/>
          </a:xfrm>
          <a:prstGeom prst="rect">
            <a:avLst/>
          </a:prstGeom>
          <a:noFill/>
          <a:ln/>
        </p:spPr>
        <p:txBody>
          <a:bodyPr wrap="square" lIns="0" tIns="0" rIns="0" bIns="0" rtlCol="0" anchor="t"/>
          <a:lstStyle/>
          <a:p>
            <a:pPr indent="0" marL="0">
              <a:buNone/>
            </a:pPr>
            <a:r>
              <a:rPr lang="en-US" sz="1400" dirty="0">
                <a:solidFill>
                  <a:schemeClr val="tx2"/>
                </a:solidFill>
              </a:rPr>
              <a:t>1/3/6 sa CSI göreli kazancı (LightGBM)</a:t>
            </a:r>
            <a:endParaRPr lang="en-US" sz="1400" dirty="0"/>
          </a:p>
        </p:txBody>
      </p:sp>
      <p:sp>
        <p:nvSpPr>
          <p:cNvPr id="7" name="stat-model, her s"/>
          <p:cNvSpPr txBox="1"/>
          <p:nvPr/>
        </p:nvSpPr>
        <p:spPr>
          <a:xfrm>
            <a:off x="7772400" y="2788920"/>
            <a:ext cx="3840480"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6 / 6</a:t>
            </a:r>
            <a:endParaRPr lang="en-US" sz="3400" dirty="0"/>
          </a:p>
        </p:txBody>
      </p:sp>
      <p:sp>
        <p:nvSpPr>
          <p:cNvPr id="8" name="Text 4"/>
          <p:cNvSpPr txBox="1"/>
          <p:nvPr/>
        </p:nvSpPr>
        <p:spPr>
          <a:xfrm>
            <a:off x="7772400" y="3566160"/>
            <a:ext cx="3840480" cy="548640"/>
          </a:xfrm>
          <a:prstGeom prst="rect">
            <a:avLst/>
          </a:prstGeom>
          <a:noFill/>
          <a:ln/>
        </p:spPr>
        <p:txBody>
          <a:bodyPr wrap="square" lIns="0" tIns="0" rIns="0" bIns="0" rtlCol="0" anchor="t"/>
          <a:lstStyle/>
          <a:p>
            <a:pPr indent="0" marL="0">
              <a:buNone/>
            </a:pPr>
            <a:r>
              <a:rPr lang="en-US" sz="1400" dirty="0">
                <a:solidFill>
                  <a:schemeClr val="tx2"/>
                </a:solidFill>
              </a:rPr>
              <a:t>model, her sürede anlamlı (bootstrap, p &lt; 0,05)</a:t>
            </a:r>
            <a:endParaRPr lang="en-US" sz="1400" dirty="0"/>
          </a:p>
        </p:txBody>
      </p:sp>
      <p:sp>
        <p:nvSpPr>
          <p:cNvPr id="9" name="stat-3–6 sa: GRU/"/>
          <p:cNvSpPr txBox="1"/>
          <p:nvPr/>
        </p:nvSpPr>
        <p:spPr>
          <a:xfrm>
            <a:off x="7772400" y="4206240"/>
            <a:ext cx="3840480" cy="7772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1 sa: LightGBM</a:t>
            </a:r>
            <a:endParaRPr lang="en-US" sz="2800" dirty="0"/>
          </a:p>
        </p:txBody>
      </p:sp>
      <p:sp>
        <p:nvSpPr>
          <p:cNvPr id="10" name="Text 6"/>
          <p:cNvSpPr txBox="1"/>
          <p:nvPr/>
        </p:nvSpPr>
        <p:spPr>
          <a:xfrm>
            <a:off x="7772400" y="4983480"/>
            <a:ext cx="3840480" cy="548640"/>
          </a:xfrm>
          <a:prstGeom prst="rect">
            <a:avLst/>
          </a:prstGeom>
          <a:noFill/>
          <a:ln/>
        </p:spPr>
        <p:txBody>
          <a:bodyPr wrap="square" lIns="0" tIns="0" rIns="0" bIns="0" rtlCol="0" anchor="t"/>
          <a:lstStyle/>
          <a:p>
            <a:pPr indent="0" marL="0">
              <a:buNone/>
            </a:pPr>
            <a:r>
              <a:rPr lang="en-US" sz="1400" dirty="0">
                <a:solidFill>
                  <a:schemeClr val="tx2"/>
                </a:solidFill>
              </a:rPr>
              <a:t>3–6 sa: GRU/LSTM en iyi olasılıksal beceri</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Resmî TREND tahminini de geçiyor</a:t>
            </a:r>
            <a:endParaRPr lang="en-US" sz="3000" dirty="0"/>
          </a:p>
        </p:txBody>
      </p:sp>
      <p:graphicFrame>
        <p:nvGraphicFramePr>
          <p:cNvPr id="4" name="Chart 0" descr=""/>
          <p:cNvGraphicFramePr/>
          <p:nvPr/>
        </p:nvGraphicFramePr>
        <p:xfrm>
          <a:off x="484632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1325880"/>
            <a:ext cx="39319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1 saatte CSI</a:t>
            </a:r>
            <a:endParaRPr lang="en-US" sz="2000" dirty="0"/>
          </a:p>
        </p:txBody>
      </p:sp>
      <p:sp>
        <p:nvSpPr>
          <p:cNvPr id="6" name="Shape 2"/>
          <p:cNvSpPr/>
          <p:nvPr/>
        </p:nvSpPr>
        <p:spPr>
          <a:xfrm>
            <a:off x="548640" y="1874520"/>
            <a:ext cx="3931920" cy="594360"/>
          </a:xfrm>
          <a:prstGeom prst="roundRect">
            <a:avLst>
              <a:gd name="adj" fmla="val 12308"/>
            </a:avLst>
          </a:prstGeom>
          <a:solidFill>
            <a:srgbClr val="1F77B4"/>
          </a:solidFill>
          <a:ln w="12700">
            <a:solidFill>
              <a:srgbClr val="1F77B4"/>
            </a:solidFill>
            <a:prstDash val="solid"/>
          </a:ln>
        </p:spPr>
      </p:sp>
      <p:sp>
        <p:nvSpPr>
          <p:cNvPr id="7" name="Text 3"/>
          <p:cNvSpPr txBox="1"/>
          <p:nvPr/>
        </p:nvSpPr>
        <p:spPr>
          <a:xfrm>
            <a:off x="731520" y="1874520"/>
            <a:ext cx="2560320" cy="594360"/>
          </a:xfrm>
          <a:prstGeom prst="rect">
            <a:avLst/>
          </a:prstGeom>
          <a:noFill/>
          <a:ln/>
        </p:spPr>
        <p:txBody>
          <a:bodyPr wrap="square" lIns="0" tIns="0" rIns="0" bIns="0" rtlCol="0" anchor="ctr"/>
          <a:lstStyle/>
          <a:p>
            <a:pPr indent="0" marL="0">
              <a:buNone/>
            </a:pPr>
            <a:r>
              <a:rPr lang="en-US" sz="1700" b="1" dirty="0">
                <a:solidFill>
                  <a:srgbClr val="FFFFFF"/>
                </a:solidFill>
              </a:rPr>
              <a:t>LightGBM</a:t>
            </a:r>
            <a:endParaRPr lang="en-US" sz="1700" dirty="0"/>
          </a:p>
        </p:txBody>
      </p:sp>
      <p:sp>
        <p:nvSpPr>
          <p:cNvPr id="8" name="Text 4"/>
          <p:cNvSpPr txBox="1"/>
          <p:nvPr/>
        </p:nvSpPr>
        <p:spPr>
          <a:xfrm>
            <a:off x="3108960" y="1874520"/>
            <a:ext cx="1188720" cy="594360"/>
          </a:xfrm>
          <a:prstGeom prst="rect">
            <a:avLst/>
          </a:prstGeom>
          <a:noFill/>
          <a:ln/>
        </p:spPr>
        <p:txBody>
          <a:bodyPr wrap="square" lIns="0" tIns="0" rIns="0" bIns="0" rtlCol="0" anchor="ctr"/>
          <a:lstStyle/>
          <a:p>
            <a:pPr algn="r" indent="0" marL="0">
              <a:buNone/>
            </a:pPr>
            <a:r>
              <a:rPr lang="en-US" sz="2200" b="1" dirty="0">
                <a:solidFill>
                  <a:srgbClr val="FFFFFF"/>
                </a:solidFill>
              </a:rPr>
              <a:t>0,73</a:t>
            </a:r>
            <a:endParaRPr lang="en-US" sz="2200" dirty="0"/>
          </a:p>
        </p:txBody>
      </p:sp>
      <p:sp>
        <p:nvSpPr>
          <p:cNvPr id="9" name="Shape 5"/>
          <p:cNvSpPr/>
          <p:nvPr/>
        </p:nvSpPr>
        <p:spPr>
          <a:xfrm>
            <a:off x="548640" y="2606040"/>
            <a:ext cx="3931920" cy="594360"/>
          </a:xfrm>
          <a:prstGeom prst="roundRect">
            <a:avLst>
              <a:gd name="adj" fmla="val 12308"/>
            </a:avLst>
          </a:prstGeom>
          <a:solidFill>
            <a:srgbClr val="E6EBEF"/>
          </a:solidFill>
          <a:ln w="12700">
            <a:solidFill>
              <a:srgbClr val="E6EBEF"/>
            </a:solidFill>
            <a:prstDash val="solid"/>
          </a:ln>
        </p:spPr>
      </p:sp>
      <p:sp>
        <p:nvSpPr>
          <p:cNvPr id="10" name="Text 6"/>
          <p:cNvSpPr txBox="1"/>
          <p:nvPr/>
        </p:nvSpPr>
        <p:spPr>
          <a:xfrm>
            <a:off x="731520" y="2606040"/>
            <a:ext cx="2560320" cy="594360"/>
          </a:xfrm>
          <a:prstGeom prst="rect">
            <a:avLst/>
          </a:prstGeom>
          <a:noFill/>
          <a:ln/>
        </p:spPr>
        <p:txBody>
          <a:bodyPr wrap="square" lIns="0" tIns="0" rIns="0" bIns="0" rtlCol="0" anchor="ctr"/>
          <a:lstStyle/>
          <a:p>
            <a:pPr indent="0" marL="0">
              <a:buNone/>
            </a:pPr>
            <a:r>
              <a:rPr lang="en-US" sz="1700" dirty="0">
                <a:solidFill>
                  <a:srgbClr val="13233A"/>
                </a:solidFill>
              </a:rPr>
              <a:t>Kalıcılık</a:t>
            </a:r>
            <a:endParaRPr lang="en-US" sz="1700" dirty="0"/>
          </a:p>
        </p:txBody>
      </p:sp>
      <p:sp>
        <p:nvSpPr>
          <p:cNvPr id="11" name="Text 7"/>
          <p:cNvSpPr txBox="1"/>
          <p:nvPr/>
        </p:nvSpPr>
        <p:spPr>
          <a:xfrm>
            <a:off x="3108960" y="2606040"/>
            <a:ext cx="1188720" cy="594360"/>
          </a:xfrm>
          <a:prstGeom prst="rect">
            <a:avLst/>
          </a:prstGeom>
          <a:noFill/>
          <a:ln/>
        </p:spPr>
        <p:txBody>
          <a:bodyPr wrap="square" lIns="0" tIns="0" rIns="0" bIns="0" rtlCol="0" anchor="ctr"/>
          <a:lstStyle/>
          <a:p>
            <a:pPr algn="r" indent="0" marL="0">
              <a:buNone/>
            </a:pPr>
            <a:r>
              <a:rPr lang="en-US" sz="2200" b="1" dirty="0">
                <a:solidFill>
                  <a:srgbClr val="13233A"/>
                </a:solidFill>
              </a:rPr>
              <a:t>0,65</a:t>
            </a:r>
            <a:endParaRPr lang="en-US" sz="2200" dirty="0"/>
          </a:p>
        </p:txBody>
      </p:sp>
      <p:sp>
        <p:nvSpPr>
          <p:cNvPr id="12" name="Shape 8"/>
          <p:cNvSpPr/>
          <p:nvPr/>
        </p:nvSpPr>
        <p:spPr>
          <a:xfrm>
            <a:off x="548640" y="3337560"/>
            <a:ext cx="3931920" cy="594360"/>
          </a:xfrm>
          <a:prstGeom prst="roundRect">
            <a:avLst>
              <a:gd name="adj" fmla="val 12308"/>
            </a:avLst>
          </a:prstGeom>
          <a:solidFill>
            <a:srgbClr val="E6EBEF"/>
          </a:solidFill>
          <a:ln w="12700">
            <a:solidFill>
              <a:srgbClr val="E6EBEF"/>
            </a:solidFill>
            <a:prstDash val="solid"/>
          </a:ln>
        </p:spPr>
      </p:sp>
      <p:sp>
        <p:nvSpPr>
          <p:cNvPr id="13" name="Text 9"/>
          <p:cNvSpPr txBox="1"/>
          <p:nvPr/>
        </p:nvSpPr>
        <p:spPr>
          <a:xfrm>
            <a:off x="731520" y="3337560"/>
            <a:ext cx="2560320" cy="594360"/>
          </a:xfrm>
          <a:prstGeom prst="rect">
            <a:avLst/>
          </a:prstGeom>
          <a:noFill/>
          <a:ln/>
        </p:spPr>
        <p:txBody>
          <a:bodyPr wrap="square" lIns="0" tIns="0" rIns="0" bIns="0" rtlCol="0" anchor="ctr"/>
          <a:lstStyle/>
          <a:p>
            <a:pPr indent="0" marL="0">
              <a:buNone/>
            </a:pPr>
            <a:r>
              <a:rPr lang="en-US" sz="1700" dirty="0">
                <a:solidFill>
                  <a:srgbClr val="13233A"/>
                </a:solidFill>
              </a:rPr>
              <a:t>TREND (resmî)</a:t>
            </a:r>
            <a:endParaRPr lang="en-US" sz="1700" dirty="0"/>
          </a:p>
        </p:txBody>
      </p:sp>
      <p:sp>
        <p:nvSpPr>
          <p:cNvPr id="14" name="Text 10"/>
          <p:cNvSpPr txBox="1"/>
          <p:nvPr/>
        </p:nvSpPr>
        <p:spPr>
          <a:xfrm>
            <a:off x="3108960" y="3337560"/>
            <a:ext cx="1188720" cy="594360"/>
          </a:xfrm>
          <a:prstGeom prst="rect">
            <a:avLst/>
          </a:prstGeom>
          <a:noFill/>
          <a:ln/>
        </p:spPr>
        <p:txBody>
          <a:bodyPr wrap="square" lIns="0" tIns="0" rIns="0" bIns="0" rtlCol="0" anchor="ctr"/>
          <a:lstStyle/>
          <a:p>
            <a:pPr algn="r" indent="0" marL="0">
              <a:buNone/>
            </a:pPr>
            <a:r>
              <a:rPr lang="en-US" sz="2200" b="1" dirty="0">
                <a:solidFill>
                  <a:srgbClr val="13233A"/>
                </a:solidFill>
              </a:rPr>
              <a:t>0,62</a:t>
            </a:r>
            <a:endParaRPr lang="en-US" sz="2200" dirty="0"/>
          </a:p>
        </p:txBody>
      </p:sp>
      <p:sp>
        <p:nvSpPr>
          <p:cNvPr id="15" name="stat-LightGBM − T"/>
          <p:cNvSpPr txBox="1"/>
          <p:nvPr/>
        </p:nvSpPr>
        <p:spPr>
          <a:xfrm>
            <a:off x="548640" y="4206240"/>
            <a:ext cx="4023360" cy="7772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ΔCSI = +0,105</a:t>
            </a:r>
            <a:endParaRPr lang="en-US" sz="3200" dirty="0"/>
          </a:p>
        </p:txBody>
      </p:sp>
      <p:sp>
        <p:nvSpPr>
          <p:cNvPr id="16" name="Text 12"/>
          <p:cNvSpPr txBox="1"/>
          <p:nvPr/>
        </p:nvSpPr>
        <p:spPr>
          <a:xfrm>
            <a:off x="548640" y="4983480"/>
            <a:ext cx="4023360" cy="548640"/>
          </a:xfrm>
          <a:prstGeom prst="rect">
            <a:avLst/>
          </a:prstGeom>
          <a:noFill/>
          <a:ln/>
        </p:spPr>
        <p:txBody>
          <a:bodyPr wrap="square" lIns="0" tIns="0" rIns="0" bIns="0" rtlCol="0" anchor="t"/>
          <a:lstStyle/>
          <a:p>
            <a:pPr indent="0" marL="0">
              <a:buNone/>
            </a:pPr>
            <a:r>
              <a:rPr lang="en-US" sz="1400" dirty="0">
                <a:solidFill>
                  <a:schemeClr val="tx2"/>
                </a:solidFill>
              </a:rPr>
              <a:t>LightGBM − TREND, %95 GA [0,075; 0,140]</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Zor kısım: sis başlangıçları</a:t>
            </a:r>
            <a:endParaRPr lang="en-US" sz="3000" dirty="0"/>
          </a:p>
        </p:txBody>
      </p:sp>
      <p:graphicFrame>
        <p:nvGraphicFramePr>
          <p:cNvPr id="4" name="Chart 0" descr=""/>
          <p:cNvGraphicFramePr/>
          <p:nvPr/>
        </p:nvGraphicFramePr>
        <p:xfrm>
          <a:off x="548640" y="123444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stat-6 sa önceden"/>
          <p:cNvSpPr txBox="1"/>
          <p:nvPr/>
        </p:nvSpPr>
        <p:spPr>
          <a:xfrm>
            <a:off x="7955280" y="1371600"/>
            <a:ext cx="3657600" cy="77724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%86</a:t>
            </a:r>
            <a:endParaRPr lang="en-US" sz="4000" dirty="0"/>
          </a:p>
        </p:txBody>
      </p:sp>
      <p:sp>
        <p:nvSpPr>
          <p:cNvPr id="6" name="Text 2"/>
          <p:cNvSpPr txBox="1"/>
          <p:nvPr/>
        </p:nvSpPr>
        <p:spPr>
          <a:xfrm>
            <a:off x="7955280" y="2148840"/>
            <a:ext cx="3657600" cy="731520"/>
          </a:xfrm>
          <a:prstGeom prst="rect">
            <a:avLst/>
          </a:prstGeom>
          <a:noFill/>
          <a:ln/>
        </p:spPr>
        <p:txBody>
          <a:bodyPr wrap="square" lIns="0" tIns="0" rIns="0" bIns="0" rtlCol="0" anchor="t"/>
          <a:lstStyle/>
          <a:p>
            <a:pPr indent="0" marL="0">
              <a:buNone/>
            </a:pPr>
            <a:r>
              <a:rPr lang="en-US" sz="1400" dirty="0">
                <a:solidFill>
                  <a:schemeClr val="tx2"/>
                </a:solidFill>
              </a:rPr>
              <a:t>6 sa önceden doğru tahmin edilen dağılmalar (GRU; kalıcılık %68)</a:t>
            </a:r>
            <a:endParaRPr lang="en-US" sz="1400" dirty="0"/>
          </a:p>
        </p:txBody>
      </p:sp>
      <p:sp>
        <p:nvSpPr>
          <p:cNvPr id="7" name="stat-en yüksek CS"/>
          <p:cNvSpPr txBox="1"/>
          <p:nvPr/>
        </p:nvSpPr>
        <p:spPr>
          <a:xfrm>
            <a:off x="7955280" y="3063240"/>
            <a:ext cx="365760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%2–21</a:t>
            </a:r>
            <a:endParaRPr lang="en-US" sz="4000" dirty="0"/>
          </a:p>
        </p:txBody>
      </p:sp>
      <p:sp>
        <p:nvSpPr>
          <p:cNvPr id="8" name="Text 4"/>
          <p:cNvSpPr txBox="1"/>
          <p:nvPr/>
        </p:nvSpPr>
        <p:spPr>
          <a:xfrm>
            <a:off x="7955280" y="3840480"/>
            <a:ext cx="3657600" cy="731520"/>
          </a:xfrm>
          <a:prstGeom prst="rect">
            <a:avLst/>
          </a:prstGeom>
          <a:noFill/>
          <a:ln/>
        </p:spPr>
        <p:txBody>
          <a:bodyPr wrap="square" lIns="0" tIns="0" rIns="0" bIns="0" rtlCol="0" anchor="t"/>
          <a:lstStyle/>
          <a:p>
            <a:pPr indent="0" marL="0">
              <a:buNone/>
            </a:pPr>
            <a:r>
              <a:rPr lang="en-US" sz="1400" dirty="0">
                <a:solidFill>
                  <a:schemeClr val="tx2"/>
                </a:solidFill>
              </a:rPr>
              <a:t>en yüksek CSI eşiğinde yakalanan başlangıçlar</a:t>
            </a:r>
            <a:endParaRPr lang="en-US" sz="1400" dirty="0"/>
          </a:p>
        </p:txBody>
      </p:sp>
      <p:sp>
        <p:nvSpPr>
          <p:cNvPr id="9" name="stat-izleme seviy"/>
          <p:cNvSpPr txBox="1"/>
          <p:nvPr/>
        </p:nvSpPr>
        <p:spPr>
          <a:xfrm>
            <a:off x="7955280" y="4754880"/>
            <a:ext cx="3657600" cy="7772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×2–3</a:t>
            </a:r>
            <a:endParaRPr lang="en-US" sz="4000" dirty="0"/>
          </a:p>
        </p:txBody>
      </p:sp>
      <p:sp>
        <p:nvSpPr>
          <p:cNvPr id="10" name="Text 6"/>
          <p:cNvSpPr txBox="1"/>
          <p:nvPr/>
        </p:nvSpPr>
        <p:spPr>
          <a:xfrm>
            <a:off x="7955280" y="5532120"/>
            <a:ext cx="3657600" cy="731520"/>
          </a:xfrm>
          <a:prstGeom prst="rect">
            <a:avLst/>
          </a:prstGeom>
          <a:noFill/>
          <a:ln/>
        </p:spPr>
        <p:txBody>
          <a:bodyPr wrap="square" lIns="0" tIns="0" rIns="0" bIns="0" rtlCol="0" anchor="t"/>
          <a:lstStyle/>
          <a:p>
            <a:pPr indent="0" marL="0">
              <a:buNone/>
            </a:pPr>
            <a:r>
              <a:rPr lang="en-US" sz="1400" dirty="0">
                <a:solidFill>
                  <a:schemeClr val="tx2"/>
                </a:solidFill>
              </a:rPr>
              <a:t>izleme seviyesiyle başlangıç tespiti artışı</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ILS kategorisi tahminleri</a:t>
            </a:r>
            <a:endParaRPr lang="en-US" sz="3000" dirty="0"/>
          </a:p>
        </p:txBody>
      </p:sp>
      <p:pic>
        <p:nvPicPr>
          <p:cNvPr id="4" name="Image 0" descr="C:\Users\Atasa\OneDrive\Masaüstü\Makine Öğrenmesi\Esenboğa Projesi\results\figures\tr\rvr_confusion.png">    </p:cNvPr>
          <p:cNvPicPr>
            <a:picLocks noChangeAspect="1"/>
          </p:cNvPicPr>
          <p:nvPr/>
        </p:nvPicPr>
        <p:blipFill>
          <a:blip r:embed="rId1"/>
          <a:stretch>
            <a:fillRect/>
          </a:stretch>
        </p:blipFill>
        <p:spPr>
          <a:xfrm>
            <a:off x="548640" y="1280160"/>
            <a:ext cx="7589520" cy="2880360"/>
          </a:xfrm>
          <a:prstGeom prst="rect">
            <a:avLst/>
          </a:prstGeom>
        </p:spPr>
      </p:pic>
      <p:sp>
        <p:nvSpPr>
          <p:cNvPr id="5" name="stat-RPSS 1 sa"/>
          <p:cNvSpPr txBox="1"/>
          <p:nvPr/>
        </p:nvSpPr>
        <p:spPr>
          <a:xfrm>
            <a:off x="8595360" y="1325880"/>
            <a:ext cx="3017520" cy="7772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0,64</a:t>
            </a:r>
            <a:endParaRPr lang="en-US" sz="3800" dirty="0"/>
          </a:p>
        </p:txBody>
      </p:sp>
      <p:sp>
        <p:nvSpPr>
          <p:cNvPr id="6" name="Text 2"/>
          <p:cNvSpPr txBox="1"/>
          <p:nvPr/>
        </p:nvSpPr>
        <p:spPr>
          <a:xfrm>
            <a:off x="8595360" y="2103120"/>
            <a:ext cx="3017520" cy="548640"/>
          </a:xfrm>
          <a:prstGeom prst="rect">
            <a:avLst/>
          </a:prstGeom>
          <a:noFill/>
          <a:ln/>
        </p:spPr>
        <p:txBody>
          <a:bodyPr wrap="square" lIns="0" tIns="0" rIns="0" bIns="0" rtlCol="0" anchor="t"/>
          <a:lstStyle/>
          <a:p>
            <a:pPr indent="0" marL="0">
              <a:buNone/>
            </a:pPr>
            <a:r>
              <a:rPr lang="en-US" sz="1400" dirty="0">
                <a:solidFill>
                  <a:schemeClr val="tx2"/>
                </a:solidFill>
              </a:rPr>
              <a:t>RPSS 1 sa</a:t>
            </a:r>
            <a:endParaRPr lang="en-US" sz="1400" dirty="0"/>
          </a:p>
        </p:txBody>
      </p:sp>
      <p:sp>
        <p:nvSpPr>
          <p:cNvPr id="7" name="stat-RPSS 3 sa"/>
          <p:cNvSpPr txBox="1"/>
          <p:nvPr/>
        </p:nvSpPr>
        <p:spPr>
          <a:xfrm>
            <a:off x="8595360" y="2788920"/>
            <a:ext cx="3017520" cy="7772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0,41</a:t>
            </a:r>
            <a:endParaRPr lang="en-US" sz="3800" dirty="0"/>
          </a:p>
        </p:txBody>
      </p:sp>
      <p:sp>
        <p:nvSpPr>
          <p:cNvPr id="8" name="Text 4"/>
          <p:cNvSpPr txBox="1"/>
          <p:nvPr/>
        </p:nvSpPr>
        <p:spPr>
          <a:xfrm>
            <a:off x="8595360" y="3566160"/>
            <a:ext cx="3017520" cy="548640"/>
          </a:xfrm>
          <a:prstGeom prst="rect">
            <a:avLst/>
          </a:prstGeom>
          <a:noFill/>
          <a:ln/>
        </p:spPr>
        <p:txBody>
          <a:bodyPr wrap="square" lIns="0" tIns="0" rIns="0" bIns="0" rtlCol="0" anchor="t"/>
          <a:lstStyle/>
          <a:p>
            <a:pPr indent="0" marL="0">
              <a:buNone/>
            </a:pPr>
            <a:r>
              <a:rPr lang="en-US" sz="1400" dirty="0">
                <a:solidFill>
                  <a:schemeClr val="tx2"/>
                </a:solidFill>
              </a:rPr>
              <a:t>RPSS 3 sa</a:t>
            </a:r>
            <a:endParaRPr lang="en-US" sz="1400" dirty="0"/>
          </a:p>
        </p:txBody>
      </p:sp>
      <p:sp>
        <p:nvSpPr>
          <p:cNvPr id="9" name="stat-RPSS 6 sa"/>
          <p:cNvSpPr txBox="1"/>
          <p:nvPr/>
        </p:nvSpPr>
        <p:spPr>
          <a:xfrm>
            <a:off x="8595360" y="4251960"/>
            <a:ext cx="3017520" cy="7772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0,28</a:t>
            </a:r>
            <a:endParaRPr lang="en-US" sz="3800" dirty="0"/>
          </a:p>
        </p:txBody>
      </p:sp>
      <p:sp>
        <p:nvSpPr>
          <p:cNvPr id="10" name="Text 6"/>
          <p:cNvSpPr txBox="1"/>
          <p:nvPr/>
        </p:nvSpPr>
        <p:spPr>
          <a:xfrm>
            <a:off x="8595360" y="5029200"/>
            <a:ext cx="3017520" cy="548640"/>
          </a:xfrm>
          <a:prstGeom prst="rect">
            <a:avLst/>
          </a:prstGeom>
          <a:noFill/>
          <a:ln/>
        </p:spPr>
        <p:txBody>
          <a:bodyPr wrap="square" lIns="0" tIns="0" rIns="0" bIns="0" rtlCol="0" anchor="t"/>
          <a:lstStyle/>
          <a:p>
            <a:pPr indent="0" marL="0">
              <a:buNone/>
            </a:pPr>
            <a:r>
              <a:rPr lang="en-US" sz="1400" dirty="0">
                <a:solidFill>
                  <a:schemeClr val="tx2"/>
                </a:solidFill>
              </a:rPr>
              <a:t>RPSS 6 sa</a:t>
            </a:r>
            <a:endParaRPr lang="en-US" sz="1400" dirty="0"/>
          </a:p>
        </p:txBody>
      </p:sp>
      <p:sp>
        <p:nvSpPr>
          <p:cNvPr id="11" name="Text 7"/>
          <p:cNvSpPr txBox="1"/>
          <p:nvPr/>
        </p:nvSpPr>
        <p:spPr>
          <a:xfrm>
            <a:off x="548640" y="4434840"/>
            <a:ext cx="7589520" cy="16459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CAT III (RVR &lt; 350 m): 1 saatte durumların %76'sı doğru</a:t>
            </a:r>
            <a:endParaRPr lang="en-US" sz="1600" dirty="0"/>
          </a:p>
          <a:p>
            <a:pPr marL="342900" indent="-342900">
              <a:spcAft>
                <a:spcPts val="800"/>
              </a:spcAft>
              <a:buSzPct val="100000"/>
              <a:buChar char="•"/>
            </a:pPr>
            <a:r>
              <a:rPr lang="en-US" sz="1600" dirty="0">
                <a:solidFill>
                  <a:schemeClr val="tx1"/>
                </a:solidFill>
              </a:rPr>
              <a:t>CAT II: dar geçiş bandı, komşu sınıflarla karışıyor</a:t>
            </a:r>
            <a:endParaRPr lang="en-US" sz="1600" dirty="0"/>
          </a:p>
          <a:p>
            <a:pPr marL="342900" indent="-342900">
              <a:spcAft>
                <a:spcPts val="800"/>
              </a:spcAft>
              <a:buSzPct val="100000"/>
              <a:buChar char="•"/>
            </a:pPr>
            <a:r>
              <a:rPr lang="en-US" sz="1600" dirty="0">
                <a:solidFill>
                  <a:schemeClr val="tx1"/>
                </a:solidFill>
              </a:rPr>
              <a:t>Kalıcılık RPSS: 0,43 → −0,17 → −0,70</a:t>
            </a:r>
            <a:endParaRPr lang="en-US" sz="16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Açıklanabilirlik: model sis fiziğini öğrenmiş</a:t>
            </a:r>
            <a:endParaRPr lang="en-US" sz="3000" dirty="0"/>
          </a:p>
        </p:txBody>
      </p:sp>
      <p:pic>
        <p:nvPicPr>
          <p:cNvPr id="4" name="Image 0" descr="C:\Users\Atasa\OneDrive\Masaüstü\Makine Öğrenmesi\Esenboğa Projesi\results\figures\tr\shap_groups.png">    </p:cNvPr>
          <p:cNvPicPr>
            <a:picLocks noChangeAspect="1"/>
          </p:cNvPicPr>
          <p:nvPr/>
        </p:nvPicPr>
        <p:blipFill>
          <a:blip r:embed="rId1"/>
          <a:stretch>
            <a:fillRect/>
          </a:stretch>
        </p:blipFill>
        <p:spPr>
          <a:xfrm>
            <a:off x="548640" y="1234440"/>
            <a:ext cx="4206240" cy="2514600"/>
          </a:xfrm>
          <a:prstGeom prst="rect">
            <a:avLst/>
          </a:prstGeom>
        </p:spPr>
      </p:pic>
      <p:sp>
        <p:nvSpPr>
          <p:cNvPr id="5" name="Text 1"/>
          <p:cNvSpPr txBox="1"/>
          <p:nvPr/>
        </p:nvSpPr>
        <p:spPr>
          <a:xfrm>
            <a:off x="5120640" y="1371600"/>
            <a:ext cx="6492240" cy="23774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1 sa: anlık nem ve görüş (%78)</a:t>
            </a:r>
            <a:endParaRPr lang="en-US" sz="1700" dirty="0"/>
          </a:p>
          <a:p>
            <a:pPr marL="342900" indent="-342900">
              <a:spcAft>
                <a:spcPts val="800"/>
              </a:spcAft>
              <a:buSzPct val="100000"/>
              <a:buChar char="•"/>
            </a:pPr>
            <a:r>
              <a:rPr lang="en-US" sz="1700" dirty="0">
                <a:solidFill>
                  <a:schemeClr val="tx1"/>
                </a:solidFill>
              </a:rPr>
              <a:t>6 sa: Güneş/takvim %28, bellek %21</a:t>
            </a:r>
            <a:endParaRPr lang="en-US" sz="1700" dirty="0"/>
          </a:p>
          <a:p>
            <a:pPr marL="342900" indent="-342900">
              <a:spcAft>
                <a:spcPts val="800"/>
              </a:spcAft>
              <a:buSzPct val="100000"/>
              <a:buChar char="•"/>
            </a:pPr>
            <a:r>
              <a:rPr lang="en-US" sz="1700" dirty="0">
                <a:solidFill>
                  <a:schemeClr val="tx1"/>
                </a:solidFill>
              </a:rPr>
              <a:t>T−Td ≤ 2 °C ve rüzgâr ≤ 3 kt → sis</a:t>
            </a:r>
            <a:endParaRPr lang="en-US" sz="1700" dirty="0"/>
          </a:p>
          <a:p>
            <a:pPr marL="342900" indent="-342900">
              <a:spcAft>
                <a:spcPts val="800"/>
              </a:spcAft>
              <a:buSzPct val="100000"/>
              <a:buChar char="•"/>
            </a:pPr>
            <a:r>
              <a:rPr lang="en-US" sz="1700" dirty="0">
                <a:solidFill>
                  <a:schemeClr val="tx1"/>
                </a:solidFill>
              </a:rPr>
              <a:t>Gün doğumundan sonra → dağılma</a:t>
            </a:r>
            <a:endParaRPr lang="en-US" sz="1700" dirty="0"/>
          </a:p>
        </p:txBody>
      </p:sp>
      <p:pic>
        <p:nvPicPr>
          <p:cNvPr id="6" name="Image 1" descr="C:\Users\Atasa\OneDrive\Masaüstü\Makine Öğrenmesi\Esenboğa Projesi\results\figures\tr\shap_dependence.png">    </p:cNvPr>
          <p:cNvPicPr>
            <a:picLocks noChangeAspect="1"/>
          </p:cNvPicPr>
          <p:nvPr/>
        </p:nvPicPr>
        <p:blipFill>
          <a:blip r:embed="rId2"/>
          <a:stretch>
            <a:fillRect/>
          </a:stretch>
        </p:blipFill>
        <p:spPr>
          <a:xfrm>
            <a:off x="548640" y="3977640"/>
            <a:ext cx="11064240" cy="242316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Olay incelemesi: 17–18 Aralık 2022</a:t>
            </a:r>
            <a:endParaRPr lang="en-US" sz="3000" dirty="0"/>
          </a:p>
        </p:txBody>
      </p:sp>
      <p:pic>
        <p:nvPicPr>
          <p:cNvPr id="4" name="Image 0" descr="C:\Users\Atasa\OneDrive\Masaüstü\Makine Öğrenmesi\Esenboğa Projesi\results\figures\tr\case_study.png">    </p:cNvPr>
          <p:cNvPicPr>
            <a:picLocks noChangeAspect="1"/>
          </p:cNvPicPr>
          <p:nvPr/>
        </p:nvPicPr>
        <p:blipFill>
          <a:blip r:embed="rId1"/>
          <a:stretch>
            <a:fillRect/>
          </a:stretch>
        </p:blipFill>
        <p:spPr>
          <a:xfrm>
            <a:off x="548640" y="1280160"/>
            <a:ext cx="7452360" cy="2286000"/>
          </a:xfrm>
          <a:prstGeom prst="rect">
            <a:avLst/>
          </a:prstGeom>
        </p:spPr>
      </p:pic>
      <p:pic>
        <p:nvPicPr>
          <p:cNvPr id="5" name="Image 1" descr="C:\Users\Atasa\OneDrive\Masaüstü\Makine Öğrenmesi\Esenboğa Projesi\results\figures\tr\shap_waterfall.png">    </p:cNvPr>
          <p:cNvPicPr>
            <a:picLocks noChangeAspect="1"/>
          </p:cNvPicPr>
          <p:nvPr/>
        </p:nvPicPr>
        <p:blipFill>
          <a:blip r:embed="rId2"/>
          <a:stretch>
            <a:fillRect/>
          </a:stretch>
        </p:blipFill>
        <p:spPr>
          <a:xfrm>
            <a:off x="8183880" y="1234440"/>
            <a:ext cx="3429000" cy="3154680"/>
          </a:xfrm>
          <a:prstGeom prst="rect">
            <a:avLst/>
          </a:prstGeom>
        </p:spPr>
      </p:pic>
      <p:sp>
        <p:nvSpPr>
          <p:cNvPr id="6" name="stat-16:20 UTC&amp;apos;de"/>
          <p:cNvSpPr txBox="1"/>
          <p:nvPr/>
        </p:nvSpPr>
        <p:spPr>
          <a:xfrm>
            <a:off x="548640" y="3977640"/>
            <a:ext cx="3474720" cy="777240"/>
          </a:xfrm>
          <a:prstGeom prst="rect">
            <a:avLst/>
          </a:prstGeom>
          <a:noFill/>
          <a:ln/>
        </p:spPr>
        <p:txBody>
          <a:bodyPr wrap="square" lIns="0" tIns="0" rIns="0" bIns="0" rtlCol="0" anchor="ctr"/>
          <a:lstStyle/>
          <a:p>
            <a:pPr indent="0" marL="0">
              <a:buNone/>
            </a:pPr>
            <a:r>
              <a:rPr lang="en-US" sz="3800" b="1" dirty="0">
                <a:solidFill>
                  <a:schemeClr val="accent3"/>
                </a:solidFill>
                <a:latin typeface="Cambria" pitchFamily="34" charset="0"/>
                <a:ea typeface="Cambria" pitchFamily="34" charset="-122"/>
                <a:cs typeface="Cambria" pitchFamily="34" charset="-120"/>
              </a:rPr>
              <a:t>p = 0,82</a:t>
            </a:r>
            <a:endParaRPr lang="en-US" sz="3800" dirty="0"/>
          </a:p>
        </p:txBody>
      </p:sp>
      <p:sp>
        <p:nvSpPr>
          <p:cNvPr id="7" name="Text 2"/>
          <p:cNvSpPr txBox="1"/>
          <p:nvPr/>
        </p:nvSpPr>
        <p:spPr>
          <a:xfrm>
            <a:off x="548640" y="4754880"/>
            <a:ext cx="3474720" cy="731520"/>
          </a:xfrm>
          <a:prstGeom prst="rect">
            <a:avLst/>
          </a:prstGeom>
          <a:noFill/>
          <a:ln/>
        </p:spPr>
        <p:txBody>
          <a:bodyPr wrap="square" lIns="0" tIns="0" rIns="0" bIns="0" rtlCol="0" anchor="t"/>
          <a:lstStyle/>
          <a:p>
            <a:pPr indent="0" marL="0">
              <a:buNone/>
            </a:pPr>
            <a:r>
              <a:rPr lang="en-US" sz="1400" dirty="0">
                <a:solidFill>
                  <a:schemeClr val="tx2"/>
                </a:solidFill>
              </a:rPr>
              <a:t>16:20 UTC'de 3 sa sonrası için sis olasılığı (eşik 0,33)</a:t>
            </a:r>
            <a:endParaRPr lang="en-US" sz="1400" dirty="0"/>
          </a:p>
        </p:txBody>
      </p:sp>
      <p:sp>
        <p:nvSpPr>
          <p:cNvPr id="8" name="stat-sonra sis ol"/>
          <p:cNvSpPr txBox="1"/>
          <p:nvPr/>
        </p:nvSpPr>
        <p:spPr>
          <a:xfrm>
            <a:off x="4206240" y="3977640"/>
            <a:ext cx="3749040" cy="777240"/>
          </a:xfrm>
          <a:prstGeom prst="rect">
            <a:avLst/>
          </a:prstGeom>
          <a:noFill/>
          <a:ln/>
        </p:spPr>
        <p:txBody>
          <a:bodyPr wrap="square" lIns="0" tIns="0" rIns="0" bIns="0" rtlCol="0" anchor="ctr"/>
          <a:lstStyle/>
          <a:p>
            <a:pPr indent="0" marL="0">
              <a:buNone/>
            </a:pPr>
            <a:r>
              <a:rPr lang="en-US" sz="3800" b="1" dirty="0">
                <a:solidFill>
                  <a:schemeClr val="tx1"/>
                </a:solidFill>
                <a:latin typeface="Cambria" pitchFamily="34" charset="0"/>
                <a:ea typeface="Cambria" pitchFamily="34" charset="-122"/>
                <a:cs typeface="Cambria" pitchFamily="34" charset="-120"/>
              </a:rPr>
              <a:t>30 dk</a:t>
            </a:r>
            <a:endParaRPr lang="en-US" sz="3800" dirty="0"/>
          </a:p>
        </p:txBody>
      </p:sp>
      <p:sp>
        <p:nvSpPr>
          <p:cNvPr id="9" name="Text 4"/>
          <p:cNvSpPr txBox="1"/>
          <p:nvPr/>
        </p:nvSpPr>
        <p:spPr>
          <a:xfrm>
            <a:off x="4206240" y="4754880"/>
            <a:ext cx="3749040" cy="731520"/>
          </a:xfrm>
          <a:prstGeom prst="rect">
            <a:avLst/>
          </a:prstGeom>
          <a:noFill/>
          <a:ln/>
        </p:spPr>
        <p:txBody>
          <a:bodyPr wrap="square" lIns="0" tIns="0" rIns="0" bIns="0" rtlCol="0" anchor="t"/>
          <a:lstStyle/>
          <a:p>
            <a:pPr indent="0" marL="0">
              <a:buNone/>
            </a:pPr>
            <a:r>
              <a:rPr lang="en-US" sz="1400" dirty="0">
                <a:solidFill>
                  <a:schemeClr val="tx2"/>
                </a:solidFill>
              </a:rPr>
              <a:t>sonra sis oluştu (16:50 UTC)</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Canlı erken uyarı uygulaması</a:t>
            </a:r>
            <a:endParaRPr lang="en-US" sz="3000" dirty="0"/>
          </a:p>
        </p:txBody>
      </p:sp>
      <p:pic>
        <p:nvPicPr>
          <p:cNvPr id="4" name="Image 0" descr="C:\Users\Atasa\OneDrive\Masaüstü\Makine Öğrenmesi\Esenboğa Projesi\results\figures\tr\app_screenshot.png">    </p:cNvPr>
          <p:cNvPicPr>
            <a:picLocks noChangeAspect="1"/>
          </p:cNvPicPr>
          <p:nvPr/>
        </p:nvPicPr>
        <p:blipFill>
          <a:blip r:embed="rId1"/>
          <a:stretch>
            <a:fillRect/>
          </a:stretch>
        </p:blipFill>
        <p:spPr>
          <a:xfrm>
            <a:off x="548640" y="1188720"/>
            <a:ext cx="5257800" cy="5102352"/>
          </a:xfrm>
          <a:prstGeom prst="rect">
            <a:avLst/>
          </a:prstGeom>
        </p:spPr>
      </p:pic>
      <p:sp>
        <p:nvSpPr>
          <p:cNvPr id="5" name="Text 1"/>
          <p:cNvSpPr txBox="1"/>
          <p:nvPr/>
        </p:nvSpPr>
        <p:spPr>
          <a:xfrm>
            <a:off x="6172200" y="1325880"/>
            <a:ext cx="5440680" cy="48463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Her 10 dakikada canlı METAR (NOAA AWC, yedek IEM)</a:t>
            </a:r>
            <a:endParaRPr lang="en-US" sz="1700" dirty="0"/>
          </a:p>
          <a:p>
            <a:pPr marL="342900" indent="-342900">
              <a:spcAft>
                <a:spcPts val="800"/>
              </a:spcAft>
              <a:buSzPct val="100000"/>
              <a:buChar char="•"/>
            </a:pPr>
            <a:r>
              <a:rPr lang="en-US" sz="1700" dirty="0">
                <a:solidFill>
                  <a:schemeClr val="tx1"/>
                </a:solidFill>
              </a:rPr>
              <a:t>Eğitimle birebir aynı işlem hattı: eşdeğerlik testinde fark 0,0</a:t>
            </a:r>
            <a:endParaRPr lang="en-US" sz="1700" dirty="0"/>
          </a:p>
          <a:p>
            <a:pPr marL="342900" indent="-342900">
              <a:spcAft>
                <a:spcPts val="800"/>
              </a:spcAft>
              <a:buSzPct val="100000"/>
              <a:buChar char="•"/>
            </a:pPr>
            <a:r>
              <a:rPr lang="en-US" sz="1700" dirty="0">
                <a:solidFill>
                  <a:schemeClr val="tx1"/>
                </a:solidFill>
              </a:rPr>
              <a:t>Kademeli uyarı: yeşil / sarı (izleme) / turuncu / kırmızı</a:t>
            </a:r>
            <a:endParaRPr lang="en-US" sz="1700" dirty="0"/>
          </a:p>
          <a:p>
            <a:pPr marL="342900" indent="-342900">
              <a:spcAft>
                <a:spcPts val="800"/>
              </a:spcAft>
              <a:buSzPct val="100000"/>
              <a:buChar char="•"/>
            </a:pPr>
            <a:r>
              <a:rPr lang="en-US" sz="1700" dirty="0">
                <a:solidFill>
                  <a:schemeClr val="tx1"/>
                </a:solidFill>
              </a:rPr>
              <a:t>Her tahmin için SHAP tabanlı etkili faktörler</a:t>
            </a:r>
            <a:endParaRPr lang="en-US" sz="1700" dirty="0"/>
          </a:p>
          <a:p>
            <a:pPr marL="342900" indent="-342900">
              <a:spcAft>
                <a:spcPts val="800"/>
              </a:spcAft>
              <a:buSzPct val="100000"/>
              <a:buChar char="•"/>
            </a:pPr>
            <a:r>
              <a:rPr lang="en-US" sz="1700" dirty="0">
                <a:solidFill>
                  <a:schemeClr val="tx1"/>
                </a:solidFill>
              </a:rPr>
              <a:t>SQLite kaydı ve otomatik gerçek zamanlı doğrulama</a:t>
            </a:r>
            <a:endParaRPr lang="en-US" sz="1700" dirty="0"/>
          </a:p>
          <a:p>
            <a:pPr marL="342900" indent="-342900">
              <a:spcAft>
                <a:spcPts val="800"/>
              </a:spcAft>
              <a:buSzPct val="100000"/>
              <a:buChar char="•"/>
            </a:pPr>
            <a:r>
              <a:rPr lang="en-US" sz="1700" dirty="0">
                <a:solidFill>
                  <a:schemeClr val="tx1"/>
                </a:solidFill>
              </a:rPr>
              <a:t>Temmuz–Ekim 2026: 5 700+ tahmin, 0 yanlış alarm</a:t>
            </a:r>
            <a:endParaRPr lang="en-US" sz="1700" dirty="0"/>
          </a:p>
          <a:p>
            <a:pPr marL="342900" indent="-342900">
              <a:spcAft>
                <a:spcPts val="800"/>
              </a:spcAft>
              <a:buSzPct val="100000"/>
              <a:buChar char="•"/>
            </a:pPr>
            <a:r>
              <a:rPr lang="en-US" sz="1700" dirty="0">
                <a:solidFill>
                  <a:schemeClr val="tx1"/>
                </a:solidFill>
              </a:rPr>
              <a:t>Canlı sayfa (GitHub Actions, her 30 dk): atasakik.github.io/esenboga-fog-nowcasting</a:t>
            </a:r>
            <a:endParaRPr lang="en-US" sz="17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9875520" cy="6858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Sonuç</a:t>
            </a:r>
            <a:endParaRPr lang="en-US" sz="3000" dirty="0"/>
          </a:p>
        </p:txBody>
      </p:sp>
      <p:sp>
        <p:nvSpPr>
          <p:cNvPr id="4" name="Text 1"/>
          <p:cNvSpPr txBox="1"/>
          <p:nvPr/>
        </p:nvSpPr>
        <p:spPr>
          <a:xfrm>
            <a:off x="548640" y="1417320"/>
            <a:ext cx="3566160" cy="7315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0,73 / 0,47 / 0,34</a:t>
            </a:r>
            <a:endParaRPr lang="en-US" sz="2800" dirty="0"/>
          </a:p>
        </p:txBody>
      </p:sp>
      <p:sp>
        <p:nvSpPr>
          <p:cNvPr id="5" name="Text 2"/>
          <p:cNvSpPr txBox="1"/>
          <p:nvPr/>
        </p:nvSpPr>
        <p:spPr>
          <a:xfrm>
            <a:off x="548640" y="2148840"/>
            <a:ext cx="3474720" cy="822960"/>
          </a:xfrm>
          <a:prstGeom prst="rect">
            <a:avLst/>
          </a:prstGeom>
          <a:noFill/>
          <a:ln/>
        </p:spPr>
        <p:txBody>
          <a:bodyPr wrap="square" lIns="0" tIns="0" rIns="0" bIns="0" rtlCol="0" anchor="t"/>
          <a:lstStyle/>
          <a:p>
            <a:pPr indent="0" marL="0">
              <a:buNone/>
            </a:pPr>
            <a:r>
              <a:rPr lang="en-US" sz="1500" dirty="0">
                <a:solidFill>
                  <a:srgbClr val="E6EBEF"/>
                </a:solidFill>
              </a:rPr>
              <a:t>en iyi CSI (1/3/6 sa); kalıcılık 0,65 / 0,32 / 0,13</a:t>
            </a:r>
            <a:endParaRPr lang="en-US" sz="1500" dirty="0"/>
          </a:p>
        </p:txBody>
      </p:sp>
      <p:sp>
        <p:nvSpPr>
          <p:cNvPr id="6" name="Text 3"/>
          <p:cNvSpPr txBox="1"/>
          <p:nvPr/>
        </p:nvSpPr>
        <p:spPr>
          <a:xfrm>
            <a:off x="4343400" y="1417320"/>
            <a:ext cx="3566160" cy="7315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+0,105 CSI</a:t>
            </a:r>
            <a:endParaRPr lang="en-US" sz="2800" dirty="0"/>
          </a:p>
        </p:txBody>
      </p:sp>
      <p:sp>
        <p:nvSpPr>
          <p:cNvPr id="7" name="Text 4"/>
          <p:cNvSpPr txBox="1"/>
          <p:nvPr/>
        </p:nvSpPr>
        <p:spPr>
          <a:xfrm>
            <a:off x="4343400" y="2148840"/>
            <a:ext cx="3474720" cy="822960"/>
          </a:xfrm>
          <a:prstGeom prst="rect">
            <a:avLst/>
          </a:prstGeom>
          <a:noFill/>
          <a:ln/>
        </p:spPr>
        <p:txBody>
          <a:bodyPr wrap="square" lIns="0" tIns="0" rIns="0" bIns="0" rtlCol="0" anchor="t"/>
          <a:lstStyle/>
          <a:p>
            <a:pPr indent="0" marL="0">
              <a:buNone/>
            </a:pPr>
            <a:r>
              <a:rPr lang="en-US" sz="1500" dirty="0">
                <a:solidFill>
                  <a:srgbClr val="E6EBEF"/>
                </a:solidFill>
              </a:rPr>
              <a:t>1 saatte resmî METAR TREND tahminine göre (anlamlı)</a:t>
            </a:r>
            <a:endParaRPr lang="en-US" sz="1500" dirty="0"/>
          </a:p>
        </p:txBody>
      </p:sp>
      <p:sp>
        <p:nvSpPr>
          <p:cNvPr id="8" name="Text 5"/>
          <p:cNvSpPr txBox="1"/>
          <p:nvPr/>
        </p:nvSpPr>
        <p:spPr>
          <a:xfrm>
            <a:off x="8138160" y="1417320"/>
            <a:ext cx="3566160" cy="7315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Fiziksel tutarlılık</a:t>
            </a:r>
            <a:endParaRPr lang="en-US" sz="2800" dirty="0"/>
          </a:p>
        </p:txBody>
      </p:sp>
      <p:sp>
        <p:nvSpPr>
          <p:cNvPr id="9" name="Text 6"/>
          <p:cNvSpPr txBox="1"/>
          <p:nvPr/>
        </p:nvSpPr>
        <p:spPr>
          <a:xfrm>
            <a:off x="8138160" y="2148840"/>
            <a:ext cx="3474720" cy="822960"/>
          </a:xfrm>
          <a:prstGeom prst="rect">
            <a:avLst/>
          </a:prstGeom>
          <a:noFill/>
          <a:ln/>
        </p:spPr>
        <p:txBody>
          <a:bodyPr wrap="square" lIns="0" tIns="0" rIns="0" bIns="0" rtlCol="0" anchor="t"/>
          <a:lstStyle/>
          <a:p>
            <a:pPr indent="0" marL="0">
              <a:buNone/>
            </a:pPr>
            <a:r>
              <a:rPr lang="en-US" sz="1500" dirty="0">
                <a:solidFill>
                  <a:srgbClr val="E6EBEF"/>
                </a:solidFill>
              </a:rPr>
              <a:t>SHAP: doygunluk, zayıf karışım, ışınım döngüsü</a:t>
            </a:r>
            <a:endParaRPr lang="en-US" sz="1500" dirty="0"/>
          </a:p>
        </p:txBody>
      </p:sp>
      <p:sp>
        <p:nvSpPr>
          <p:cNvPr id="10" name="Text 7"/>
          <p:cNvSpPr txBox="1"/>
          <p:nvPr/>
        </p:nvSpPr>
        <p:spPr>
          <a:xfrm>
            <a:off x="548640" y="3337560"/>
            <a:ext cx="548640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Gelecek çalışmalar</a:t>
            </a:r>
            <a:endParaRPr lang="en-US" sz="2000" dirty="0"/>
          </a:p>
        </p:txBody>
      </p:sp>
      <p:sp>
        <p:nvSpPr>
          <p:cNvPr id="11" name="Text 8"/>
          <p:cNvSpPr txBox="1"/>
          <p:nvPr/>
        </p:nvSpPr>
        <p:spPr>
          <a:xfrm>
            <a:off x="548640" y="3840480"/>
            <a:ext cx="6949440" cy="14630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E6EBEF"/>
                </a:solidFill>
              </a:rPr>
              <a:t>Sayısal hava tahmini, uydu ve seilometre öznitelikleri ile başlangıç tespiti</a:t>
            </a:r>
            <a:endParaRPr lang="en-US" sz="1600" dirty="0"/>
          </a:p>
          <a:p>
            <a:pPr marL="342900" indent="-342900">
              <a:spcAft>
                <a:spcPts val="600"/>
              </a:spcAft>
              <a:buSzPct val="100000"/>
              <a:buChar char="•"/>
            </a:pPr>
            <a:r>
              <a:rPr lang="en-US" sz="1600" dirty="0">
                <a:solidFill>
                  <a:srgbClr val="E6EBEF"/>
                </a:solidFill>
              </a:rPr>
              <a:t>Tam sis sezonlarında TAF karşılaştırması (canlı kayıt)</a:t>
            </a:r>
            <a:endParaRPr lang="en-US" sz="1600" dirty="0"/>
          </a:p>
          <a:p>
            <a:pPr marL="342900" indent="-342900">
              <a:spcAft>
                <a:spcPts val="600"/>
              </a:spcAft>
              <a:buSzPct val="100000"/>
              <a:buChar char="•"/>
            </a:pPr>
            <a:r>
              <a:rPr lang="en-US" sz="1600" dirty="0">
                <a:solidFill>
                  <a:srgbClr val="E6EBEF"/>
                </a:solidFill>
              </a:rPr>
              <a:t>Diğer Türk havalimanlarına aktarım</a:t>
            </a:r>
            <a:endParaRPr lang="en-US" sz="1600" dirty="0"/>
          </a:p>
        </p:txBody>
      </p:sp>
      <p:sp>
        <p:nvSpPr>
          <p:cNvPr id="12" name="Text 9">
            <a:hlinkClick r:id="rId1" tooltip=""/>
          </p:cNvPr>
          <p:cNvSpPr txBox="1"/>
          <p:nvPr/>
        </p:nvSpPr>
        <p:spPr>
          <a:xfrm>
            <a:off x="548640" y="5715000"/>
            <a:ext cx="7315200" cy="411480"/>
          </a:xfrm>
          <a:prstGeom prst="rect">
            <a:avLst/>
          </a:prstGeom>
          <a:noFill/>
          <a:ln/>
        </p:spPr>
        <p:txBody>
          <a:bodyPr wrap="square" lIns="0" tIns="0" rIns="0" bIns="0" rtlCol="0" anchor="ctr"/>
          <a:lstStyle/>
          <a:p>
            <a:pPr indent="0" marL="0">
              <a:buNone/>
            </a:pPr>
            <a:r>
              <a:rPr lang="en-US" sz="16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github.com/AtaSakik/esenboga-fog-nowcasting</a:t>
            </a:r>
            <a:endParaRPr lang="en-US" sz="1600" dirty="0"/>
          </a:p>
        </p:txBody>
      </p:sp>
      <p:sp>
        <p:nvSpPr>
          <p:cNvPr id="13" name="Text 10"/>
          <p:cNvSpPr txBox="1"/>
          <p:nvPr/>
        </p:nvSpPr>
        <p:spPr>
          <a:xfrm>
            <a:off x="8138160" y="5212080"/>
            <a:ext cx="3474720" cy="822960"/>
          </a:xfrm>
          <a:prstGeom prst="rect">
            <a:avLst/>
          </a:prstGeom>
          <a:noFill/>
          <a:ln/>
        </p:spPr>
        <p:txBody>
          <a:bodyPr wrap="square" lIns="0" tIns="0" rIns="0" bIns="0" rtlCol="0" anchor="ctr"/>
          <a:lstStyle/>
          <a:p>
            <a:pPr algn="r" indent="0" marL="0">
              <a:buNone/>
            </a:pPr>
            <a:r>
              <a:rPr lang="en-US" sz="3600" b="1" dirty="0">
                <a:solidFill>
                  <a:schemeClr val="bg1"/>
                </a:solidFill>
                <a:latin typeface="Cambria" pitchFamily="34" charset="0"/>
                <a:ea typeface="Cambria" pitchFamily="34" charset="-122"/>
                <a:cs typeface="Cambria" pitchFamily="34" charset="-120"/>
              </a:rPr>
              <a:t>Teşekkürler</a:t>
            </a:r>
            <a:endParaRPr lang="en-US" sz="36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F8C9A"/>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LTAC Fog">
  <a:themeElements>
    <a:clrScheme name="LTAC Fog">
      <a:dk1>
        <a:srgbClr val="13233A"/>
      </a:dk1>
      <a:lt1>
        <a:srgbClr val="FFFFFF"/>
      </a:lt1>
      <a:dk2>
        <a:srgbClr val="2B3E5A"/>
      </a:dk2>
      <a:lt2>
        <a:srgbClr val="E6EBEF"/>
      </a:lt2>
      <a:accent1>
        <a:srgbClr val="F2C200"/>
      </a:accent1>
      <a:accent2>
        <a:srgbClr val="1F77B4"/>
      </a:accent2>
      <a:accent3>
        <a:srgbClr val="C8323F"/>
      </a:accent3>
      <a:accent4>
        <a:srgbClr val="1F9D5B"/>
      </a:accent4>
      <a:accent5>
        <a:srgbClr val="E2762B"/>
      </a:accent5>
      <a:accent6>
        <a:srgbClr val="7F8C9A"/>
      </a:accent6>
      <a:hlink>
        <a:srgbClr val="1F77B4"/>
      </a:hlink>
      <a:folHlink>
        <a:srgbClr val="2B3E5A"/>
      </a:folHlink>
    </a:clrScheme>
    <a:fontScheme name="LTAC Fo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Esenboğa'da Sis ve Düşük Görüşün Açıklanabilir Makine Öğrenmesiyle Kısa Vadeli Tahmini</dc:title>
  <dc:subject>YMH453 term project</dc:subject>
  <dc:creator>Ata Sakik</dc:creator>
  <cp:lastModifiedBy>Ata Sakik</cp:lastModifiedBy>
  <cp:revision>1</cp:revision>
  <dcterms:created xsi:type="dcterms:W3CDTF">2026-10-29T22:08:17Z</dcterms:created>
  <dcterms:modified xsi:type="dcterms:W3CDTF">2026-10-29T22:08:17Z</dcterms:modified>
</cp:coreProperties>
</file>